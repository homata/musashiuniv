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764" r:id="rId3"/>
    <p:sldId id="1922" r:id="rId4"/>
    <p:sldId id="1918" r:id="rId5"/>
    <p:sldId id="1926" r:id="rId6"/>
    <p:sldId id="1937" r:id="rId7"/>
    <p:sldId id="1938" r:id="rId8"/>
    <p:sldId id="1940" r:id="rId9"/>
    <p:sldId id="1939" r:id="rId10"/>
    <p:sldId id="1923" r:id="rId11"/>
    <p:sldId id="1925" r:id="rId12"/>
    <p:sldId id="1927" r:id="rId13"/>
    <p:sldId id="1928" r:id="rId14"/>
    <p:sldId id="1929" r:id="rId15"/>
    <p:sldId id="1932" r:id="rId16"/>
    <p:sldId id="1930" r:id="rId17"/>
    <p:sldId id="1931" r:id="rId18"/>
    <p:sldId id="1933" r:id="rId19"/>
    <p:sldId id="1935" r:id="rId20"/>
    <p:sldId id="384" r:id="rId21"/>
    <p:sldId id="1936" r:id="rId22"/>
    <p:sldId id="386" r:id="rId23"/>
    <p:sldId id="387" r:id="rId24"/>
    <p:sldId id="1942" r:id="rId25"/>
    <p:sldId id="1941" r:id="rId26"/>
    <p:sldId id="1934"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7" autoAdjust="0"/>
    <p:restoredTop sz="94660"/>
  </p:normalViewPr>
  <p:slideViewPr>
    <p:cSldViewPr snapToGrid="0">
      <p:cViewPr varScale="1">
        <p:scale>
          <a:sx n="81" d="100"/>
          <a:sy n="81" d="100"/>
        </p:scale>
        <p:origin x="216" y="78"/>
      </p:cViewPr>
      <p:guideLst/>
    </p:cSldViewPr>
  </p:slideViewPr>
  <p:notesTextViewPr>
    <p:cViewPr>
      <p:scale>
        <a:sx n="1" d="1"/>
        <a:sy n="1" d="1"/>
      </p:scale>
      <p:origin x="0" y="0"/>
    </p:cViewPr>
  </p:notesTextViewPr>
  <p:sorterViewPr>
    <p:cViewPr>
      <p:scale>
        <a:sx n="100" d="100"/>
        <a:sy n="100" d="100"/>
      </p:scale>
      <p:origin x="0" y="-108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83627-7656-42CE-9AB5-BCC37DBBE8A5}" type="datetimeFigureOut">
              <a:rPr kumimoji="1" lang="ja-JP" altLang="en-US" smtClean="0"/>
              <a:t>2026/7/19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37E38-8B9F-493C-B92F-97ECDC170235}" type="slidenum">
              <a:rPr kumimoji="1" lang="ja-JP" altLang="en-US" smtClean="0"/>
              <a:t>‹#›</a:t>
            </a:fld>
            <a:endParaRPr kumimoji="1" lang="ja-JP" altLang="en-US"/>
          </a:p>
        </p:txBody>
      </p:sp>
    </p:spTree>
    <p:extLst>
      <p:ext uri="{BB962C8B-B14F-4D97-AF65-F5344CB8AC3E}">
        <p14:creationId xmlns:p14="http://schemas.microsoft.com/office/powerpoint/2010/main" val="51816378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3122F54-A0C0-44B9-85E4-BE068BBA2F5A}" type="slidenum">
              <a:rPr kumimoji="1" lang="ja-JP" altLang="en-US" smtClean="0"/>
              <a:t>23</a:t>
            </a:fld>
            <a:endParaRPr kumimoji="1" lang="ja-JP" altLang="en-US"/>
          </a:p>
        </p:txBody>
      </p:sp>
    </p:spTree>
    <p:extLst>
      <p:ext uri="{BB962C8B-B14F-4D97-AF65-F5344CB8AC3E}">
        <p14:creationId xmlns:p14="http://schemas.microsoft.com/office/powerpoint/2010/main" val="571297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D8EAC-3D84-6367-DDDB-3F898FF8847E}"/>
              </a:ext>
            </a:extLst>
          </p:cNvPr>
          <p:cNvSpPr>
            <a:spLocks noGrp="1"/>
          </p:cNvSpPr>
          <p:nvPr>
            <p:ph type="ctrTitle"/>
          </p:nvPr>
        </p:nvSpPr>
        <p:spPr>
          <a:xfrm>
            <a:off x="1524000" y="1122363"/>
            <a:ext cx="9144000" cy="2387600"/>
          </a:xfrm>
        </p:spPr>
        <p:txBody>
          <a:bodyPr anchor="b"/>
          <a:lstStyle>
            <a:lvl1pPr algn="ctr">
              <a:defRPr sz="6000">
                <a:latin typeface="メイリオ" panose="020B0604030504040204" pitchFamily="50" charset="-128"/>
                <a:ea typeface="メイリオ" panose="020B0604030504040204" pitchFamily="50" charset="-128"/>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4CDBCE56-44D5-0843-CBEA-B00E1459307C}"/>
              </a:ext>
            </a:extLst>
          </p:cNvPr>
          <p:cNvSpPr>
            <a:spLocks noGrp="1"/>
          </p:cNvSpPr>
          <p:nvPr>
            <p:ph type="subTitle" idx="1"/>
          </p:nvPr>
        </p:nvSpPr>
        <p:spPr>
          <a:xfrm>
            <a:off x="1524000" y="3602038"/>
            <a:ext cx="9144000" cy="1655762"/>
          </a:xfrm>
        </p:spPr>
        <p:txBody>
          <a:bodyPr/>
          <a:lstStyle>
            <a:lvl1pPr marL="0" indent="0" algn="ctr">
              <a:buNone/>
              <a:defRPr sz="2400">
                <a:latin typeface="メイリオ" panose="020B0604030504040204" pitchFamily="50" charset="-128"/>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Tree>
    <p:extLst>
      <p:ext uri="{BB962C8B-B14F-4D97-AF65-F5344CB8AC3E}">
        <p14:creationId xmlns:p14="http://schemas.microsoft.com/office/powerpoint/2010/main" val="2997889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D05907-104C-8C48-B21F-DB91F601F957}"/>
              </a:ext>
            </a:extLst>
          </p:cNvPr>
          <p:cNvSpPr>
            <a:spLocks noGrp="1"/>
          </p:cNvSpPr>
          <p:nvPr>
            <p:ph type="title"/>
          </p:nvPr>
        </p:nvSpPr>
        <p:spPr/>
        <p:txBody>
          <a:bodyPr/>
          <a:lstStyle>
            <a:lvl1pPr>
              <a:defRPr>
                <a:latin typeface="メイリオ" panose="020B0604030504040204" pitchFamily="50" charset="-128"/>
                <a:ea typeface="メイリオ" panose="020B0604030504040204" pitchFamily="50" charset="-128"/>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9BAF5B64-2435-6D66-714A-5D2C48BDE0F2}"/>
              </a:ext>
            </a:extLst>
          </p:cNvPr>
          <p:cNvSpPr>
            <a:spLocks noGrp="1"/>
          </p:cNvSpPr>
          <p:nvPr>
            <p:ph idx="1"/>
          </p:nvPr>
        </p:nvSpPr>
        <p:spPr/>
        <p:txBody>
          <a:bodyPr/>
          <a:lstStyle>
            <a:lvl1pPr>
              <a:defRPr>
                <a:latin typeface="メイリオ" panose="020B0604030504040204" pitchFamily="50" charset="-128"/>
                <a:ea typeface="メイリオ" panose="020B0604030504040204" pitchFamily="50" charset="-128"/>
              </a:defRPr>
            </a:lvl1pPr>
            <a:lvl2pPr>
              <a:defRPr>
                <a:latin typeface="メイリオ" panose="020B0604030504040204" pitchFamily="50" charset="-128"/>
                <a:ea typeface="メイリオ" panose="020B0604030504040204" pitchFamily="50" charset="-128"/>
              </a:defRPr>
            </a:lvl2pPr>
            <a:lvl3pPr>
              <a:defRPr>
                <a:latin typeface="メイリオ" panose="020B0604030504040204" pitchFamily="50" charset="-128"/>
                <a:ea typeface="メイリオ" panose="020B0604030504040204" pitchFamily="50" charset="-128"/>
              </a:defRPr>
            </a:lvl3pPr>
            <a:lvl4pPr>
              <a:defRPr>
                <a:latin typeface="メイリオ" panose="020B0604030504040204" pitchFamily="50" charset="-128"/>
                <a:ea typeface="メイリオ" panose="020B0604030504040204" pitchFamily="50" charset="-128"/>
              </a:defRPr>
            </a:lvl4pPr>
            <a:lvl5pPr>
              <a:defRPr>
                <a:latin typeface="メイリオ" panose="020B0604030504040204" pitchFamily="50" charset="-128"/>
                <a:ea typeface="メイリオ"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スライド番号プレースホルダー 5">
            <a:extLst>
              <a:ext uri="{FF2B5EF4-FFF2-40B4-BE49-F238E27FC236}">
                <a16:creationId xmlns:a16="http://schemas.microsoft.com/office/drawing/2014/main" id="{6647EDC6-E94F-C1B6-D9FA-CC8EC4617329}"/>
              </a:ext>
            </a:extLst>
          </p:cNvPr>
          <p:cNvSpPr>
            <a:spLocks noGrp="1"/>
          </p:cNvSpPr>
          <p:nvPr>
            <p:ph type="sldNum" sz="quarter" idx="12"/>
          </p:nvPr>
        </p:nvSpPr>
        <p:spPr/>
        <p:txBody>
          <a:bodyPr/>
          <a:lstStyle>
            <a:lvl1pPr>
              <a:defRPr>
                <a:latin typeface="メイリオ" panose="020B0604030504040204" pitchFamily="50" charset="-128"/>
                <a:ea typeface="メイリオ" panose="020B0604030504040204" pitchFamily="50" charset="-128"/>
              </a:defRPr>
            </a:lvl1pPr>
          </a:lstStyle>
          <a:p>
            <a:fld id="{9BF9C7F9-FC43-4F78-BF89-DA95E5C583C4}" type="slidenum">
              <a:rPr lang="ja-JP" altLang="en-US" smtClean="0"/>
              <a:pPr/>
              <a:t>‹#›</a:t>
            </a:fld>
            <a:endParaRPr lang="ja-JP" altLang="en-US" dirty="0"/>
          </a:p>
        </p:txBody>
      </p:sp>
    </p:spTree>
    <p:extLst>
      <p:ext uri="{BB962C8B-B14F-4D97-AF65-F5344CB8AC3E}">
        <p14:creationId xmlns:p14="http://schemas.microsoft.com/office/powerpoint/2010/main" val="2427478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8CC8BE-D150-AEE7-6488-0B8676D7580E}"/>
              </a:ext>
            </a:extLst>
          </p:cNvPr>
          <p:cNvSpPr>
            <a:spLocks noGrp="1"/>
          </p:cNvSpPr>
          <p:nvPr>
            <p:ph type="title"/>
          </p:nvPr>
        </p:nvSpPr>
        <p:spPr>
          <a:xfrm>
            <a:off x="831850" y="1709738"/>
            <a:ext cx="10515600" cy="2852737"/>
          </a:xfrm>
        </p:spPr>
        <p:txBody>
          <a:bodyPr anchor="b"/>
          <a:lstStyle>
            <a:lvl1pPr>
              <a:defRPr sz="6000">
                <a:latin typeface="メイリオ" panose="020B0604030504040204" pitchFamily="50" charset="-128"/>
                <a:ea typeface="メイリオ" panose="020B0604030504040204" pitchFamily="50" charset="-128"/>
              </a:defRPr>
            </a:lvl1p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6A2F2A2E-BC18-17B9-03C7-F4594D9B28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メイリオ" panose="020B0604030504040204" pitchFamily="50" charset="-128"/>
                <a:ea typeface="メイリオ" panose="020B0604030504040204" pitchFamily="50" charset="-128"/>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dirty="0"/>
              <a:t>マスター テキストの書式設定</a:t>
            </a:r>
          </a:p>
        </p:txBody>
      </p:sp>
    </p:spTree>
    <p:extLst>
      <p:ext uri="{BB962C8B-B14F-4D97-AF65-F5344CB8AC3E}">
        <p14:creationId xmlns:p14="http://schemas.microsoft.com/office/powerpoint/2010/main" val="3225641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637E31-A203-28F7-44AD-60877E35E0BA}"/>
              </a:ext>
            </a:extLst>
          </p:cNvPr>
          <p:cNvSpPr>
            <a:spLocks noGrp="1"/>
          </p:cNvSpPr>
          <p:nvPr>
            <p:ph type="title"/>
          </p:nvPr>
        </p:nvSpPr>
        <p:spPr/>
        <p:txBody>
          <a:bodyPr/>
          <a:lstStyle>
            <a:lvl1pPr>
              <a:defRPr>
                <a:latin typeface="メイリオ" panose="020B0604030504040204" pitchFamily="50" charset="-128"/>
                <a:ea typeface="メイリオ" panose="020B0604030504040204"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3107133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FC53FBE-92A0-342D-FE20-5F1513B54337}"/>
              </a:ext>
            </a:extLst>
          </p:cNvPr>
          <p:cNvSpPr>
            <a:spLocks noGrp="1"/>
          </p:cNvSpPr>
          <p:nvPr>
            <p:ph type="sldNum" sz="quarter" idx="12"/>
          </p:nvPr>
        </p:nvSpPr>
        <p:spPr>
          <a:xfrm>
            <a:off x="9032019" y="6308642"/>
            <a:ext cx="2743200" cy="365125"/>
          </a:xfrm>
        </p:spPr>
        <p:txBody>
          <a:bodyPr/>
          <a:lstStyle>
            <a:lvl1pPr>
              <a:defRPr>
                <a:latin typeface="メイリオ" panose="020B0604030504040204" pitchFamily="50" charset="-128"/>
                <a:ea typeface="メイリオ" panose="020B0604030504040204" pitchFamily="50" charset="-128"/>
              </a:defRPr>
            </a:lvl1pPr>
          </a:lstStyle>
          <a:p>
            <a:fld id="{9BF9C7F9-FC43-4F78-BF89-DA95E5C583C4}" type="slidenum">
              <a:rPr lang="ja-JP" altLang="en-US" smtClean="0"/>
              <a:pPr/>
              <a:t>‹#›</a:t>
            </a:fld>
            <a:endParaRPr lang="ja-JP" altLang="en-US" dirty="0"/>
          </a:p>
        </p:txBody>
      </p:sp>
    </p:spTree>
    <p:extLst>
      <p:ext uri="{BB962C8B-B14F-4D97-AF65-F5344CB8AC3E}">
        <p14:creationId xmlns:p14="http://schemas.microsoft.com/office/powerpoint/2010/main" val="1827270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90000"/>
              </a:lnSpc>
              <a:spcBef>
                <a:spcPts val="0"/>
              </a:spcBef>
              <a:spcAft>
                <a:spcPts val="0"/>
              </a:spcAft>
              <a:buClr>
                <a:schemeClr val="dk1"/>
              </a:buClr>
              <a:buSzPts val="1800"/>
              <a:buChar char="●"/>
              <a:defRPr/>
            </a:lvl1pPr>
            <a:lvl2pPr marL="1219170" lvl="1" indent="-423323" algn="l">
              <a:lnSpc>
                <a:spcPct val="90000"/>
              </a:lnSpc>
              <a:spcBef>
                <a:spcPts val="0"/>
              </a:spcBef>
              <a:spcAft>
                <a:spcPts val="0"/>
              </a:spcAft>
              <a:buClr>
                <a:schemeClr val="dk1"/>
              </a:buClr>
              <a:buSzPts val="1400"/>
              <a:buChar char="○"/>
              <a:defRPr/>
            </a:lvl2pPr>
            <a:lvl3pPr marL="1828754" lvl="2" indent="-423323" algn="l">
              <a:lnSpc>
                <a:spcPct val="90000"/>
              </a:lnSpc>
              <a:spcBef>
                <a:spcPts val="0"/>
              </a:spcBef>
              <a:spcAft>
                <a:spcPts val="0"/>
              </a:spcAft>
              <a:buClr>
                <a:schemeClr val="dk1"/>
              </a:buClr>
              <a:buSzPts val="1400"/>
              <a:buChar char="■"/>
              <a:defRPr/>
            </a:lvl3pPr>
            <a:lvl4pPr marL="2438339" lvl="3" indent="-423323" algn="l">
              <a:lnSpc>
                <a:spcPct val="90000"/>
              </a:lnSpc>
              <a:spcBef>
                <a:spcPts val="0"/>
              </a:spcBef>
              <a:spcAft>
                <a:spcPts val="0"/>
              </a:spcAft>
              <a:buClr>
                <a:schemeClr val="dk1"/>
              </a:buClr>
              <a:buSzPts val="1400"/>
              <a:buChar char="●"/>
              <a:defRPr/>
            </a:lvl4pPr>
            <a:lvl5pPr marL="3047924" lvl="4" indent="-423323" algn="l">
              <a:lnSpc>
                <a:spcPct val="90000"/>
              </a:lnSpc>
              <a:spcBef>
                <a:spcPts val="0"/>
              </a:spcBef>
              <a:spcAft>
                <a:spcPts val="0"/>
              </a:spcAft>
              <a:buClr>
                <a:schemeClr val="dk1"/>
              </a:buClr>
              <a:buSzPts val="1400"/>
              <a:buChar char="○"/>
              <a:defRPr/>
            </a:lvl5pPr>
            <a:lvl6pPr marL="3657509" lvl="5" indent="-423323" algn="l">
              <a:lnSpc>
                <a:spcPct val="90000"/>
              </a:lnSpc>
              <a:spcBef>
                <a:spcPts val="0"/>
              </a:spcBef>
              <a:spcAft>
                <a:spcPts val="0"/>
              </a:spcAft>
              <a:buClr>
                <a:schemeClr val="dk1"/>
              </a:buClr>
              <a:buSzPts val="1400"/>
              <a:buChar char="■"/>
              <a:defRPr/>
            </a:lvl6pPr>
            <a:lvl7pPr marL="4267093" lvl="6" indent="-423323" algn="l">
              <a:lnSpc>
                <a:spcPct val="90000"/>
              </a:lnSpc>
              <a:spcBef>
                <a:spcPts val="0"/>
              </a:spcBef>
              <a:spcAft>
                <a:spcPts val="0"/>
              </a:spcAft>
              <a:buClr>
                <a:schemeClr val="dk1"/>
              </a:buClr>
              <a:buSzPts val="1400"/>
              <a:buChar char="●"/>
              <a:defRPr/>
            </a:lvl7pPr>
            <a:lvl8pPr marL="4876678" lvl="7" indent="-423323" algn="l">
              <a:lnSpc>
                <a:spcPct val="90000"/>
              </a:lnSpc>
              <a:spcBef>
                <a:spcPts val="0"/>
              </a:spcBef>
              <a:spcAft>
                <a:spcPts val="0"/>
              </a:spcAft>
              <a:buClr>
                <a:schemeClr val="dk1"/>
              </a:buClr>
              <a:buSzPts val="1400"/>
              <a:buChar char="○"/>
              <a:defRPr/>
            </a:lvl8pPr>
            <a:lvl9pPr marL="5486263" lvl="8" indent="-423323" algn="l">
              <a:lnSpc>
                <a:spcPct val="90000"/>
              </a:lnSpc>
              <a:spcBef>
                <a:spcPts val="0"/>
              </a:spcBef>
              <a:spcAft>
                <a:spcPts val="0"/>
              </a:spcAft>
              <a:buClr>
                <a:schemeClr val="dk1"/>
              </a:buClr>
              <a:buSzPts val="1400"/>
              <a:buChar char="■"/>
              <a:defRPr/>
            </a:lvl9pPr>
          </a:lstStyle>
          <a:p>
            <a:endParaRPr/>
          </a:p>
        </p:txBody>
      </p:sp>
      <p:sp>
        <p:nvSpPr>
          <p:cNvPr id="24" name="Google Shape;24;p4"/>
          <p:cNvSpPr txBox="1">
            <a:spLocks noGrp="1"/>
          </p:cNvSpPr>
          <p:nvPr>
            <p:ph type="sldNum" idx="12"/>
          </p:nvPr>
        </p:nvSpPr>
        <p:spPr>
          <a:xfrm>
            <a:off x="11296612"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888888"/>
              </a:buClr>
              <a:buSzPts val="900"/>
              <a:buFont typeface="Calibri"/>
              <a:buNone/>
              <a:defRPr sz="1200">
                <a:solidFill>
                  <a:srgbClr val="888888"/>
                </a:solidFill>
                <a:latin typeface="Calibri"/>
                <a:ea typeface="Calibri"/>
                <a:cs typeface="Calibri"/>
                <a:sym typeface="Calibri"/>
              </a:defRPr>
            </a:lvl1pPr>
            <a:lvl2pPr marL="0" lvl="1" indent="0" algn="r">
              <a:buClr>
                <a:srgbClr val="888888"/>
              </a:buClr>
              <a:buSzPts val="900"/>
              <a:buFont typeface="Calibri"/>
              <a:buNone/>
              <a:defRPr sz="1200">
                <a:solidFill>
                  <a:srgbClr val="888888"/>
                </a:solidFill>
                <a:latin typeface="Calibri"/>
                <a:ea typeface="Calibri"/>
                <a:cs typeface="Calibri"/>
                <a:sym typeface="Calibri"/>
              </a:defRPr>
            </a:lvl2pPr>
            <a:lvl3pPr marL="0" lvl="2" indent="0" algn="r">
              <a:buClr>
                <a:srgbClr val="888888"/>
              </a:buClr>
              <a:buSzPts val="900"/>
              <a:buFont typeface="Calibri"/>
              <a:buNone/>
              <a:defRPr sz="1200">
                <a:solidFill>
                  <a:srgbClr val="888888"/>
                </a:solidFill>
                <a:latin typeface="Calibri"/>
                <a:ea typeface="Calibri"/>
                <a:cs typeface="Calibri"/>
                <a:sym typeface="Calibri"/>
              </a:defRPr>
            </a:lvl3pPr>
            <a:lvl4pPr marL="0" lvl="3" indent="0" algn="r">
              <a:buClr>
                <a:srgbClr val="888888"/>
              </a:buClr>
              <a:buSzPts val="900"/>
              <a:buFont typeface="Calibri"/>
              <a:buNone/>
              <a:defRPr sz="1200">
                <a:solidFill>
                  <a:srgbClr val="888888"/>
                </a:solidFill>
                <a:latin typeface="Calibri"/>
                <a:ea typeface="Calibri"/>
                <a:cs typeface="Calibri"/>
                <a:sym typeface="Calibri"/>
              </a:defRPr>
            </a:lvl4pPr>
            <a:lvl5pPr marL="0" lvl="4" indent="0" algn="r">
              <a:buClr>
                <a:srgbClr val="888888"/>
              </a:buClr>
              <a:buSzPts val="900"/>
              <a:buFont typeface="Calibri"/>
              <a:buNone/>
              <a:defRPr sz="1200">
                <a:solidFill>
                  <a:srgbClr val="888888"/>
                </a:solidFill>
                <a:latin typeface="Calibri"/>
                <a:ea typeface="Calibri"/>
                <a:cs typeface="Calibri"/>
                <a:sym typeface="Calibri"/>
              </a:defRPr>
            </a:lvl5pPr>
            <a:lvl6pPr marL="0" lvl="5" indent="0" algn="r">
              <a:buClr>
                <a:srgbClr val="888888"/>
              </a:buClr>
              <a:buSzPts val="900"/>
              <a:buFont typeface="Calibri"/>
              <a:buNone/>
              <a:defRPr sz="1200">
                <a:solidFill>
                  <a:srgbClr val="888888"/>
                </a:solidFill>
                <a:latin typeface="Calibri"/>
                <a:ea typeface="Calibri"/>
                <a:cs typeface="Calibri"/>
                <a:sym typeface="Calibri"/>
              </a:defRPr>
            </a:lvl6pPr>
            <a:lvl7pPr marL="0" lvl="6" indent="0" algn="r">
              <a:buClr>
                <a:srgbClr val="888888"/>
              </a:buClr>
              <a:buSzPts val="900"/>
              <a:buFont typeface="Calibri"/>
              <a:buNone/>
              <a:defRPr sz="1200">
                <a:solidFill>
                  <a:srgbClr val="888888"/>
                </a:solidFill>
                <a:latin typeface="Calibri"/>
                <a:ea typeface="Calibri"/>
                <a:cs typeface="Calibri"/>
                <a:sym typeface="Calibri"/>
              </a:defRPr>
            </a:lvl7pPr>
            <a:lvl8pPr marL="0" lvl="7" indent="0" algn="r">
              <a:buClr>
                <a:srgbClr val="888888"/>
              </a:buClr>
              <a:buSzPts val="900"/>
              <a:buFont typeface="Calibri"/>
              <a:buNone/>
              <a:defRPr sz="1200">
                <a:solidFill>
                  <a:srgbClr val="888888"/>
                </a:solidFill>
                <a:latin typeface="Calibri"/>
                <a:ea typeface="Calibri"/>
                <a:cs typeface="Calibri"/>
                <a:sym typeface="Calibri"/>
              </a:defRPr>
            </a:lvl8pPr>
            <a:lvl9pPr marL="0" lvl="8" indent="0" algn="r">
              <a:buClr>
                <a:srgbClr val="888888"/>
              </a:buClr>
              <a:buSzPts val="900"/>
              <a:buFont typeface="Calibri"/>
              <a:buNone/>
              <a:defRPr sz="1200">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39074521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0963E10-5B84-33FE-06BE-8CAABD7C59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E9956FA-9BC4-C3F3-1473-ADD5A3888A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1FE91F7-3C9C-ABBF-1F77-73AFA07890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9D7618-C031-419B-9260-0748A789C4A3}" type="datetimeFigureOut">
              <a:rPr kumimoji="1" lang="ja-JP" altLang="en-US" smtClean="0"/>
              <a:t>2026/7/19</a:t>
            </a:fld>
            <a:endParaRPr kumimoji="1" lang="ja-JP" altLang="en-US"/>
          </a:p>
        </p:txBody>
      </p:sp>
      <p:sp>
        <p:nvSpPr>
          <p:cNvPr id="5" name="フッター プレースホルダー 4">
            <a:extLst>
              <a:ext uri="{FF2B5EF4-FFF2-40B4-BE49-F238E27FC236}">
                <a16:creationId xmlns:a16="http://schemas.microsoft.com/office/drawing/2014/main" id="{45C4ADDF-4C72-FB81-9FF8-94C35B08C2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F4456A2-E3CE-CA86-9084-87740B751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F9C7F9-FC43-4F78-BF89-DA95E5C583C4}" type="slidenum">
              <a:rPr kumimoji="1" lang="ja-JP" altLang="en-US" smtClean="0"/>
              <a:t>‹#›</a:t>
            </a:fld>
            <a:endParaRPr kumimoji="1" lang="ja-JP" altLang="en-US"/>
          </a:p>
        </p:txBody>
      </p:sp>
    </p:spTree>
    <p:extLst>
      <p:ext uri="{BB962C8B-B14F-4D97-AF65-F5344CB8AC3E}">
        <p14:creationId xmlns:p14="http://schemas.microsoft.com/office/powerpoint/2010/main" val="661025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hackmd.io/@homata/self-introduction"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s://researchmap.jp/homata" TargetMode="External"/><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mailto:op.homata@gmail.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docs.python.org/ja/3/tutorial/index.html" TargetMode="External"/><Relationship Id="rId3" Type="http://schemas.openxmlformats.org/officeDocument/2006/relationships/hyperlink" Target="https://www.python.org/doc/" TargetMode="External"/><Relationship Id="rId7" Type="http://schemas.openxmlformats.org/officeDocument/2006/relationships/hyperlink" Target="https://www.python.org/downloads/" TargetMode="External"/><Relationship Id="rId2" Type="http://schemas.openxmlformats.org/officeDocument/2006/relationships/hyperlink" Target="https://www.python.org/" TargetMode="External"/><Relationship Id="rId1" Type="http://schemas.openxmlformats.org/officeDocument/2006/relationships/slideLayout" Target="../slideLayouts/slideLayout2.xml"/><Relationship Id="rId6" Type="http://schemas.openxmlformats.org/officeDocument/2006/relationships/hyperlink" Target="https://www.python.org/about/gettingstarted/" TargetMode="External"/><Relationship Id="rId11" Type="http://schemas.openxmlformats.org/officeDocument/2006/relationships/hyperlink" Target="https://www.python.jp/train/index.html" TargetMode="External"/><Relationship Id="rId5" Type="http://schemas.openxmlformats.org/officeDocument/2006/relationships/hyperlink" Target="https://docs.python.org/ja/3/library/index.html" TargetMode="External"/><Relationship Id="rId10" Type="http://schemas.openxmlformats.org/officeDocument/2006/relationships/hyperlink" Target="https://www.python.jp/install/install.html" TargetMode="External"/><Relationship Id="rId4" Type="http://schemas.openxmlformats.org/officeDocument/2006/relationships/hyperlink" Target="https://docs.python.org/ja/3/" TargetMode="External"/><Relationship Id="rId9" Type="http://schemas.openxmlformats.org/officeDocument/2006/relationships/hyperlink" Target="https://www.python.jp/"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jupyter.org/" TargetMode="External"/><Relationship Id="rId2" Type="http://schemas.openxmlformats.org/officeDocument/2006/relationships/hyperlink" Target="https://azure.microsoft.com/ja-jp/products/visual-studio-cod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anaconda.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jetbrains.com/pycharm/" TargetMode="External"/><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8F02DB-DE8C-7B83-349D-95AB4B9E8359}"/>
              </a:ext>
            </a:extLst>
          </p:cNvPr>
          <p:cNvSpPr>
            <a:spLocks noGrp="1"/>
          </p:cNvSpPr>
          <p:nvPr>
            <p:ph type="ctrTitle"/>
          </p:nvPr>
        </p:nvSpPr>
        <p:spPr/>
        <p:txBody>
          <a:bodyPr>
            <a:normAutofit/>
          </a:bodyPr>
          <a:lstStyle/>
          <a:p>
            <a:r>
              <a:rPr kumimoji="1" lang="ja-JP" altLang="en-US" sz="4400" dirty="0"/>
              <a:t>プログラミング基礎</a:t>
            </a:r>
            <a:r>
              <a:rPr kumimoji="1" lang="en-US" altLang="ja-JP" sz="4400" dirty="0"/>
              <a:t>A/</a:t>
            </a:r>
            <a:br>
              <a:rPr kumimoji="1" lang="en-US" altLang="ja-JP" sz="4400" dirty="0"/>
            </a:br>
            <a:r>
              <a:rPr kumimoji="1" lang="ja-JP" altLang="en-US" sz="4400" dirty="0"/>
              <a:t>コンピューティング応用</a:t>
            </a:r>
            <a:r>
              <a:rPr kumimoji="1" lang="en-US" altLang="ja-JP" sz="4400" dirty="0"/>
              <a:t>E</a:t>
            </a:r>
            <a:br>
              <a:rPr kumimoji="1" lang="en-US" altLang="ja-JP" sz="4400" dirty="0"/>
            </a:br>
            <a:r>
              <a:rPr kumimoji="1" lang="en-US" altLang="ja-JP" sz="3600" dirty="0"/>
              <a:t>M1830</a:t>
            </a:r>
            <a:endParaRPr kumimoji="1" lang="ja-JP" altLang="en-US" sz="4400" dirty="0"/>
          </a:p>
        </p:txBody>
      </p:sp>
      <p:sp>
        <p:nvSpPr>
          <p:cNvPr id="3" name="字幕 2">
            <a:extLst>
              <a:ext uri="{FF2B5EF4-FFF2-40B4-BE49-F238E27FC236}">
                <a16:creationId xmlns:a16="http://schemas.microsoft.com/office/drawing/2014/main" id="{EBD752E3-A098-B349-5897-ED4E8C7AC793}"/>
              </a:ext>
            </a:extLst>
          </p:cNvPr>
          <p:cNvSpPr>
            <a:spLocks noGrp="1"/>
          </p:cNvSpPr>
          <p:nvPr>
            <p:ph type="subTitle" idx="1"/>
          </p:nvPr>
        </p:nvSpPr>
        <p:spPr>
          <a:xfrm>
            <a:off x="1524000" y="3765324"/>
            <a:ext cx="9144000" cy="1655762"/>
          </a:xfrm>
        </p:spPr>
        <p:txBody>
          <a:bodyPr>
            <a:normAutofit/>
          </a:bodyPr>
          <a:lstStyle/>
          <a:p>
            <a:r>
              <a:rPr lang="en-US" altLang="zh-TW" dirty="0"/>
              <a:t>2026</a:t>
            </a:r>
            <a:r>
              <a:rPr lang="zh-TW" altLang="en-US" dirty="0"/>
              <a:t>年度</a:t>
            </a:r>
            <a:r>
              <a:rPr lang="ja-JP" altLang="en-US" dirty="0"/>
              <a:t> </a:t>
            </a:r>
            <a:r>
              <a:rPr lang="zh-TW" altLang="en-US" dirty="0"/>
              <a:t>集中授業</a:t>
            </a:r>
            <a:endParaRPr lang="en-US" altLang="zh-TW" dirty="0"/>
          </a:p>
          <a:p>
            <a:r>
              <a:rPr lang="ja-JP" altLang="en-US" dirty="0"/>
              <a:t>春学期</a:t>
            </a:r>
            <a:endParaRPr lang="en-US" altLang="ja-JP" dirty="0"/>
          </a:p>
          <a:p>
            <a:r>
              <a:rPr lang="en-US" altLang="ja-JP" dirty="0"/>
              <a:t>7</a:t>
            </a:r>
            <a:r>
              <a:rPr lang="ja-JP" altLang="en-US" dirty="0"/>
              <a:t>月</a:t>
            </a:r>
            <a:r>
              <a:rPr lang="en-US" altLang="ja-JP" dirty="0"/>
              <a:t>28</a:t>
            </a:r>
            <a:r>
              <a:rPr lang="ja-JP" altLang="en-US" dirty="0"/>
              <a:t>日</a:t>
            </a:r>
            <a:r>
              <a:rPr lang="en-US" altLang="ja-JP" dirty="0"/>
              <a:t>(</a:t>
            </a:r>
            <a:r>
              <a:rPr lang="ja-JP" altLang="en-US" dirty="0"/>
              <a:t>月</a:t>
            </a:r>
            <a:r>
              <a:rPr lang="en-US" altLang="ja-JP" dirty="0"/>
              <a:t>)</a:t>
            </a:r>
            <a:r>
              <a:rPr lang="ja-JP" altLang="en-US" dirty="0"/>
              <a:t>～</a:t>
            </a:r>
            <a:r>
              <a:rPr lang="en-US" altLang="ja-JP" dirty="0"/>
              <a:t>7</a:t>
            </a:r>
            <a:r>
              <a:rPr lang="ja-JP" altLang="en-US" dirty="0"/>
              <a:t>月</a:t>
            </a:r>
            <a:r>
              <a:rPr lang="en-US" altLang="ja-JP" dirty="0"/>
              <a:t>31</a:t>
            </a:r>
            <a:r>
              <a:rPr lang="ja-JP" altLang="en-US" dirty="0"/>
              <a:t>日</a:t>
            </a:r>
            <a:r>
              <a:rPr lang="en-US" altLang="ja-JP" dirty="0"/>
              <a:t>(</a:t>
            </a:r>
            <a:r>
              <a:rPr lang="ja-JP" altLang="en-US" dirty="0"/>
              <a:t>木</a:t>
            </a:r>
            <a:r>
              <a:rPr lang="en-US" altLang="ja-JP" dirty="0"/>
              <a:t>)</a:t>
            </a:r>
          </a:p>
        </p:txBody>
      </p:sp>
    </p:spTree>
    <p:extLst>
      <p:ext uri="{BB962C8B-B14F-4D97-AF65-F5344CB8AC3E}">
        <p14:creationId xmlns:p14="http://schemas.microsoft.com/office/powerpoint/2010/main" val="3614447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539585" y="384367"/>
            <a:ext cx="11360800" cy="763600"/>
          </a:xfrm>
          <a:prstGeom prst="rect">
            <a:avLst/>
          </a:prstGeom>
          <a:noFill/>
          <a:ln>
            <a:noFill/>
          </a:ln>
        </p:spPr>
        <p:txBody>
          <a:bodyPr spcFirstLastPara="1" vert="horz" wrap="square" lIns="91425" tIns="91425" rIns="91425" bIns="91425" rtlCol="0" anchor="t" anchorCtr="0">
            <a:normAutofit fontScale="90000"/>
          </a:bodyPr>
          <a:lstStyle/>
          <a:p>
            <a:pPr>
              <a:lnSpc>
                <a:spcPct val="100000"/>
              </a:lnSpc>
              <a:buSzPts val="2800"/>
            </a:pPr>
            <a:r>
              <a:rPr lang="ja-JP" dirty="0"/>
              <a:t>自己紹介</a:t>
            </a:r>
            <a:endParaRPr dirty="0"/>
          </a:p>
        </p:txBody>
      </p:sp>
      <p:sp>
        <p:nvSpPr>
          <p:cNvPr id="2" name="テキスト プレースホルダー 1">
            <a:extLst>
              <a:ext uri="{FF2B5EF4-FFF2-40B4-BE49-F238E27FC236}">
                <a16:creationId xmlns:a16="http://schemas.microsoft.com/office/drawing/2014/main" id="{DF6BE6CA-5654-B758-093E-3426FC586051}"/>
              </a:ext>
            </a:extLst>
          </p:cNvPr>
          <p:cNvSpPr>
            <a:spLocks noGrp="1"/>
          </p:cNvSpPr>
          <p:nvPr>
            <p:ph type="body" idx="1"/>
          </p:nvPr>
        </p:nvSpPr>
        <p:spPr>
          <a:xfrm>
            <a:off x="4548249" y="54394"/>
            <a:ext cx="7497901" cy="6749212"/>
          </a:xfrm>
        </p:spPr>
        <p:txBody>
          <a:bodyPr>
            <a:normAutofit fontScale="25000" lnSpcReduction="20000"/>
          </a:bodyPr>
          <a:lstStyle/>
          <a:p>
            <a:pPr marL="152396" indent="0">
              <a:lnSpc>
                <a:spcPct val="120000"/>
              </a:lnSpc>
              <a:buNone/>
            </a:pPr>
            <a:r>
              <a:rPr lang="ja-JP" altLang="en-US" sz="9600" b="1" dirty="0">
                <a:latin typeface="メイリオ" panose="020B0604030504040204" pitchFamily="50" charset="-128"/>
                <a:ea typeface="メイリオ" panose="020B0604030504040204" pitchFamily="50" charset="-128"/>
              </a:rPr>
              <a:t>小俣 博司（</a:t>
            </a:r>
            <a:r>
              <a:rPr lang="en-US" altLang="ja-JP" sz="9600" b="1" dirty="0">
                <a:latin typeface="メイリオ" panose="020B0604030504040204" pitchFamily="50" charset="-128"/>
                <a:ea typeface="メイリオ" panose="020B0604030504040204" pitchFamily="50" charset="-128"/>
              </a:rPr>
              <a:t>HIROSHI OMATA</a:t>
            </a:r>
            <a:r>
              <a:rPr lang="ja-JP" altLang="en-US" sz="9600" b="1" dirty="0">
                <a:latin typeface="メイリオ" panose="020B0604030504040204" pitchFamily="50" charset="-128"/>
                <a:ea typeface="メイリオ" panose="020B0604030504040204" pitchFamily="50" charset="-128"/>
              </a:rPr>
              <a:t>）</a:t>
            </a:r>
            <a:endParaRPr lang="en-US" altLang="ja-JP" sz="9600" b="1" dirty="0">
              <a:latin typeface="メイリオ" panose="020B0604030504040204" pitchFamily="50" charset="-128"/>
              <a:ea typeface="メイリオ" panose="020B0604030504040204" pitchFamily="50" charset="-128"/>
            </a:endParaRPr>
          </a:p>
          <a:p>
            <a:pPr marL="152396" indent="0">
              <a:lnSpc>
                <a:spcPct val="120000"/>
              </a:lnSpc>
              <a:buNone/>
            </a:pPr>
            <a:r>
              <a:rPr lang="en-US" altLang="ja-JP" sz="9600" b="1" dirty="0">
                <a:latin typeface="メイリオ" panose="020B0604030504040204" pitchFamily="50" charset="-128"/>
                <a:ea typeface="メイリオ" panose="020B0604030504040204" pitchFamily="50" charset="-128"/>
              </a:rPr>
              <a:t> </a:t>
            </a:r>
            <a:r>
              <a:rPr lang="en-US" altLang="ja-JP" sz="6400" b="1" dirty="0">
                <a:latin typeface="メイリオ" panose="020B0604030504040204" pitchFamily="50" charset="-128"/>
                <a:ea typeface="メイリオ" panose="020B0604030504040204" pitchFamily="50" charset="-128"/>
              </a:rPr>
              <a:t>Software Developer / Researcher</a:t>
            </a:r>
            <a:endParaRPr lang="ja-JP" altLang="en-US" sz="6400"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b="1" dirty="0">
                <a:latin typeface="メイリオ" panose="020B0604030504040204" pitchFamily="50" charset="-128"/>
                <a:ea typeface="メイリオ" panose="020B0604030504040204" pitchFamily="50" charset="-128"/>
              </a:rPr>
              <a:t>所属</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東京大学空間情報科学研究センター 特任研究員</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東京大学デジタル空間社会連携研究機構</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シビックテック・デザイン学創成寄付研究部門　</a:t>
            </a:r>
          </a:p>
          <a:p>
            <a:pPr marL="152396" indent="0">
              <a:lnSpc>
                <a:spcPct val="120000"/>
              </a:lnSpc>
              <a:buNone/>
            </a:pPr>
            <a:r>
              <a:rPr lang="ja-JP" altLang="en-US" sz="7466" b="1" dirty="0">
                <a:latin typeface="メイリオ" panose="020B0604030504040204" pitchFamily="50" charset="-128"/>
                <a:ea typeface="メイリオ" panose="020B0604030504040204" pitchFamily="50" charset="-128"/>
              </a:rPr>
              <a:t>学位</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社会起業修士</a:t>
            </a:r>
            <a:r>
              <a:rPr lang="en-US" altLang="ja-JP" sz="7466" dirty="0">
                <a:latin typeface="メイリオ" panose="020B0604030504040204" pitchFamily="50" charset="-128"/>
                <a:ea typeface="メイリオ" panose="020B0604030504040204" pitchFamily="50" charset="-128"/>
              </a:rPr>
              <a:t>(MBA-SE)</a:t>
            </a:r>
            <a:r>
              <a:rPr lang="ja-JP" altLang="en-US" sz="7466" dirty="0">
                <a:latin typeface="メイリオ" panose="020B0604030504040204" pitchFamily="50" charset="-128"/>
                <a:ea typeface="メイリオ" panose="020B0604030504040204" pitchFamily="50" charset="-128"/>
              </a:rPr>
              <a:t>（専門職）</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b="1" dirty="0">
                <a:latin typeface="メイリオ" panose="020B0604030504040204" pitchFamily="50" charset="-128"/>
                <a:ea typeface="メイリオ" panose="020B0604030504040204" pitchFamily="50" charset="-128"/>
              </a:rPr>
              <a:t>専門</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シビックテック </a:t>
            </a:r>
            <a:r>
              <a:rPr lang="en-US" altLang="ja-JP" sz="7466" dirty="0">
                <a:latin typeface="メイリオ" panose="020B0604030504040204" pitchFamily="50" charset="-128"/>
                <a:ea typeface="メイリオ" panose="020B0604030504040204" pitchFamily="50" charset="-128"/>
              </a:rPr>
              <a:t>/ </a:t>
            </a:r>
            <a:r>
              <a:rPr lang="ja-JP" altLang="en-US" sz="7466" dirty="0">
                <a:latin typeface="メイリオ" panose="020B0604030504040204" pitchFamily="50" charset="-128"/>
                <a:ea typeface="メイリオ" panose="020B0604030504040204" pitchFamily="50" charset="-128"/>
              </a:rPr>
              <a:t>地理空間情報 </a:t>
            </a:r>
            <a:r>
              <a:rPr lang="en-US" altLang="ja-JP" sz="7466" dirty="0">
                <a:latin typeface="メイリオ" panose="020B0604030504040204" pitchFamily="50" charset="-128"/>
                <a:ea typeface="メイリオ" panose="020B0604030504040204" pitchFamily="50" charset="-128"/>
              </a:rPr>
              <a:t>/ </a:t>
            </a:r>
            <a:r>
              <a:rPr lang="ja-JP" altLang="en-US" sz="7466" dirty="0">
                <a:latin typeface="メイリオ" panose="020B0604030504040204" pitchFamily="50" charset="-128"/>
                <a:ea typeface="メイリオ" panose="020B0604030504040204" pitchFamily="50" charset="-128"/>
              </a:rPr>
              <a:t>社会情報</a:t>
            </a:r>
            <a:r>
              <a:rPr lang="en-US" altLang="ja-JP" sz="7466" dirty="0">
                <a:latin typeface="メイリオ" panose="020B0604030504040204" pitchFamily="50" charset="-128"/>
                <a:ea typeface="メイリオ" panose="020B0604030504040204" pitchFamily="50" charset="-128"/>
              </a:rPr>
              <a:t> </a:t>
            </a:r>
            <a:endParaRPr lang="ja-JP" altLang="en-US"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b="1" dirty="0">
                <a:latin typeface="メイリオ" panose="020B0604030504040204" pitchFamily="50" charset="-128"/>
                <a:ea typeface="メイリオ" panose="020B0604030504040204" pitchFamily="50" charset="-128"/>
              </a:rPr>
              <a:t>その他</a:t>
            </a:r>
            <a:endParaRPr lang="en-US" altLang="ja-JP" sz="7466" b="1"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a:t>
            </a:r>
            <a:r>
              <a:rPr lang="zh-TW" altLang="en-US" sz="7466" dirty="0">
                <a:latin typeface="メイリオ" panose="020B0604030504040204" pitchFamily="50" charset="-128"/>
                <a:ea typeface="メイリオ" panose="020B0604030504040204" pitchFamily="50" charset="-128"/>
              </a:rPr>
              <a:t>日本評価学会認定評価士</a:t>
            </a:r>
            <a:endParaRPr lang="en-US" altLang="ja-JP" sz="7466" b="1"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・武蔵大学  非常勤講師</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・一般社団法人 シビックテックジャパン 代表理事</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・さがみソーシャルイノベーションラボ </a:t>
            </a:r>
            <a:r>
              <a:rPr lang="en-US" altLang="ja-JP" sz="7466" dirty="0">
                <a:latin typeface="メイリオ" panose="020B0604030504040204" pitchFamily="50" charset="-128"/>
                <a:ea typeface="メイリオ" panose="020B0604030504040204" pitchFamily="50" charset="-128"/>
              </a:rPr>
              <a:t>(SSIL) (</a:t>
            </a:r>
            <a:r>
              <a:rPr lang="ja-JP" altLang="en-US" sz="7466" dirty="0">
                <a:latin typeface="メイリオ" panose="020B0604030504040204" pitchFamily="50" charset="-128"/>
                <a:ea typeface="メイリオ" panose="020B0604030504040204" pitchFamily="50" charset="-128"/>
              </a:rPr>
              <a:t>設立予定</a:t>
            </a:r>
            <a:r>
              <a:rPr lang="en-US" altLang="ja-JP" sz="7466" dirty="0">
                <a:latin typeface="メイリオ" panose="020B0604030504040204" pitchFamily="50" charset="-128"/>
                <a:ea typeface="メイリオ" panose="020B0604030504040204" pitchFamily="50" charset="-128"/>
              </a:rPr>
              <a:t>)</a:t>
            </a: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・アーバンデータチャレンジ事務局</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・総務省 地域情報化アドバイザー</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・金沢シビックテック推進協議会</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・社会情報学会 シビックテック・デザイン研究会</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b="1" dirty="0">
                <a:latin typeface="メイリオ" panose="020B0604030504040204" pitchFamily="50" charset="-128"/>
                <a:ea typeface="メイリオ" panose="020B0604030504040204" pitchFamily="50" charset="-128"/>
              </a:rPr>
              <a:t>興味・活動</a:t>
            </a:r>
            <a:endParaRPr lang="en-US" altLang="ja-JP" sz="7466" b="1"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佐野川茶 </a:t>
            </a:r>
            <a:r>
              <a:rPr lang="en-US" altLang="ja-JP" sz="7466" dirty="0">
                <a:latin typeface="メイリオ" panose="020B0604030504040204" pitchFamily="50" charset="-128"/>
                <a:ea typeface="メイリオ" panose="020B0604030504040204" pitchFamily="50" charset="-128"/>
              </a:rPr>
              <a:t>(</a:t>
            </a:r>
            <a:r>
              <a:rPr lang="ja-JP" altLang="en-US" sz="7466" dirty="0">
                <a:latin typeface="メイリオ" panose="020B0604030504040204" pitchFamily="50" charset="-128"/>
                <a:ea typeface="メイリオ" panose="020B0604030504040204" pitchFamily="50" charset="-128"/>
              </a:rPr>
              <a:t>神奈川県相模原市藤野地区）</a:t>
            </a:r>
            <a:r>
              <a:rPr lang="en-US" altLang="ja-JP" sz="7466" dirty="0">
                <a:latin typeface="メイリオ" panose="020B0604030504040204" pitchFamily="50" charset="-128"/>
                <a:ea typeface="メイリオ" panose="020B0604030504040204" pitchFamily="50" charset="-128"/>
              </a:rPr>
              <a:t>/</a:t>
            </a:r>
            <a:r>
              <a:rPr lang="ja-JP" altLang="en-US" sz="7466" dirty="0">
                <a:latin typeface="メイリオ" panose="020B0604030504040204" pitchFamily="50" charset="-128"/>
                <a:ea typeface="メイリオ" panose="020B0604030504040204" pitchFamily="50" charset="-128"/>
              </a:rPr>
              <a:t> 社会インパクト評価</a:t>
            </a:r>
            <a:endParaRPr lang="en-US" altLang="ja-JP" sz="7466" dirty="0">
              <a:latin typeface="メイリオ" panose="020B0604030504040204" pitchFamily="50" charset="-128"/>
              <a:ea typeface="メイリオ" panose="020B0604030504040204" pitchFamily="50" charset="-128"/>
            </a:endParaRPr>
          </a:p>
          <a:p>
            <a:pPr marL="152396" indent="0">
              <a:lnSpc>
                <a:spcPct val="120000"/>
              </a:lnSpc>
              <a:buNone/>
            </a:pPr>
            <a:r>
              <a:rPr lang="ja-JP" altLang="en-US" sz="7466" dirty="0">
                <a:latin typeface="メイリオ" panose="020B0604030504040204" pitchFamily="50" charset="-128"/>
                <a:ea typeface="メイリオ" panose="020B0604030504040204" pitchFamily="50" charset="-128"/>
              </a:rPr>
              <a:t>　</a:t>
            </a:r>
            <a:r>
              <a:rPr lang="en-US" altLang="ja-JP" sz="7466" dirty="0">
                <a:latin typeface="メイリオ" panose="020B0604030504040204" pitchFamily="50" charset="-128"/>
                <a:ea typeface="メイリオ" panose="020B0604030504040204" pitchFamily="50" charset="-128"/>
              </a:rPr>
              <a:t> /</a:t>
            </a:r>
            <a:r>
              <a:rPr lang="ja-JP" altLang="en-US" sz="7466" dirty="0">
                <a:latin typeface="メイリオ" panose="020B0604030504040204" pitchFamily="50" charset="-128"/>
                <a:ea typeface="メイリオ" panose="020B0604030504040204" pitchFamily="50" charset="-128"/>
              </a:rPr>
              <a:t> </a:t>
            </a:r>
            <a:r>
              <a:rPr lang="en-US" altLang="ja-JP" sz="7466" dirty="0" err="1">
                <a:latin typeface="メイリオ" panose="020B0604030504040204" pitchFamily="50" charset="-128"/>
                <a:ea typeface="メイリオ" panose="020B0604030504040204" pitchFamily="50" charset="-128"/>
              </a:rPr>
              <a:t>Djangoja</a:t>
            </a:r>
            <a:r>
              <a:rPr lang="en-US" altLang="ja-JP" sz="7466" dirty="0">
                <a:latin typeface="メイリオ" panose="020B0604030504040204" pitchFamily="50" charset="-128"/>
                <a:ea typeface="メイリオ" panose="020B0604030504040204" pitchFamily="50" charset="-128"/>
              </a:rPr>
              <a:t> / </a:t>
            </a:r>
            <a:r>
              <a:rPr lang="en-US" altLang="ja-JP" sz="7466" dirty="0" err="1">
                <a:latin typeface="メイリオ" panose="020B0604030504040204" pitchFamily="50" charset="-128"/>
                <a:ea typeface="メイリオ" panose="020B0604030504040204" pitchFamily="50" charset="-128"/>
              </a:rPr>
              <a:t>DjangoGirls</a:t>
            </a:r>
            <a:r>
              <a:rPr lang="en-US" altLang="ja-JP" sz="7466" dirty="0">
                <a:latin typeface="メイリオ" panose="020B0604030504040204" pitchFamily="50" charset="-128"/>
                <a:ea typeface="メイリオ" panose="020B0604030504040204" pitchFamily="50" charset="-128"/>
              </a:rPr>
              <a:t> Japan(Tokyo) / </a:t>
            </a:r>
            <a:r>
              <a:rPr lang="en-US" altLang="ja-JP" sz="7466" dirty="0" err="1">
                <a:latin typeface="メイリオ" panose="020B0604030504040204" pitchFamily="50" charset="-128"/>
                <a:ea typeface="メイリオ" panose="020B0604030504040204" pitchFamily="50" charset="-128"/>
              </a:rPr>
              <a:t>Geo+Python</a:t>
            </a:r>
            <a:r>
              <a:rPr lang="en-US" altLang="ja-JP" sz="7466" dirty="0">
                <a:latin typeface="メイリオ" panose="020B0604030504040204" pitchFamily="50" charset="-128"/>
                <a:ea typeface="メイリオ" panose="020B0604030504040204" pitchFamily="50" charset="-128"/>
              </a:rPr>
              <a:t> JP</a:t>
            </a:r>
          </a:p>
        </p:txBody>
      </p:sp>
      <p:pic>
        <p:nvPicPr>
          <p:cNvPr id="109" name="Google Shape;109;p18"/>
          <p:cNvPicPr preferRelativeResize="0"/>
          <p:nvPr/>
        </p:nvPicPr>
        <p:blipFill rotWithShape="1">
          <a:blip r:embed="rId3">
            <a:alphaModFix/>
          </a:blip>
          <a:srcRect l="21329" t="1710" r="13145"/>
          <a:stretch/>
        </p:blipFill>
        <p:spPr>
          <a:xfrm>
            <a:off x="685350" y="1147967"/>
            <a:ext cx="3457617" cy="3322805"/>
          </a:xfrm>
          <a:prstGeom prst="rect">
            <a:avLst/>
          </a:prstGeom>
          <a:noFill/>
          <a:ln>
            <a:noFill/>
          </a:ln>
        </p:spPr>
      </p:pic>
      <p:pic>
        <p:nvPicPr>
          <p:cNvPr id="4" name="Google Shape;108;p16">
            <a:extLst>
              <a:ext uri="{FF2B5EF4-FFF2-40B4-BE49-F238E27FC236}">
                <a16:creationId xmlns:a16="http://schemas.microsoft.com/office/drawing/2014/main" id="{6497066A-0274-EFFD-10BD-28C464F690AE}"/>
              </a:ext>
            </a:extLst>
          </p:cNvPr>
          <p:cNvPicPr preferRelativeResize="0"/>
          <p:nvPr/>
        </p:nvPicPr>
        <p:blipFill rotWithShape="1">
          <a:blip r:embed="rId4">
            <a:alphaModFix/>
          </a:blip>
          <a:srcRect/>
          <a:stretch/>
        </p:blipFill>
        <p:spPr>
          <a:xfrm rot="10800000">
            <a:off x="2153057" y="4573941"/>
            <a:ext cx="1779919" cy="1427632"/>
          </a:xfrm>
          <a:prstGeom prst="rect">
            <a:avLst/>
          </a:prstGeom>
          <a:noFill/>
          <a:ln>
            <a:noFill/>
          </a:ln>
        </p:spPr>
      </p:pic>
      <p:pic>
        <p:nvPicPr>
          <p:cNvPr id="6" name="Google Shape;100;p16">
            <a:extLst>
              <a:ext uri="{FF2B5EF4-FFF2-40B4-BE49-F238E27FC236}">
                <a16:creationId xmlns:a16="http://schemas.microsoft.com/office/drawing/2014/main" id="{C9201068-8550-3B61-7816-03DB60DA9C0C}"/>
              </a:ext>
            </a:extLst>
          </p:cNvPr>
          <p:cNvPicPr preferRelativeResize="0"/>
          <p:nvPr/>
        </p:nvPicPr>
        <p:blipFill rotWithShape="1">
          <a:blip r:embed="rId5">
            <a:alphaModFix/>
          </a:blip>
          <a:srcRect/>
          <a:stretch/>
        </p:blipFill>
        <p:spPr>
          <a:xfrm>
            <a:off x="902511" y="4470772"/>
            <a:ext cx="1215229" cy="1575445"/>
          </a:xfrm>
          <a:prstGeom prst="rect">
            <a:avLst/>
          </a:prstGeom>
          <a:noFill/>
          <a:ln>
            <a:noFill/>
          </a:ln>
        </p:spPr>
      </p:pic>
      <p:sp>
        <p:nvSpPr>
          <p:cNvPr id="8" name="テキスト ボックス 7">
            <a:extLst>
              <a:ext uri="{FF2B5EF4-FFF2-40B4-BE49-F238E27FC236}">
                <a16:creationId xmlns:a16="http://schemas.microsoft.com/office/drawing/2014/main" id="{CB3D9467-5DFE-247A-EF16-1B5E5D183400}"/>
              </a:ext>
            </a:extLst>
          </p:cNvPr>
          <p:cNvSpPr txBox="1"/>
          <p:nvPr/>
        </p:nvSpPr>
        <p:spPr>
          <a:xfrm>
            <a:off x="309628" y="6182251"/>
            <a:ext cx="4482088" cy="738664"/>
          </a:xfrm>
          <a:prstGeom prst="rect">
            <a:avLst/>
          </a:prstGeom>
          <a:noFill/>
        </p:spPr>
        <p:txBody>
          <a:bodyPr wrap="square">
            <a:spAutoFit/>
          </a:bodyPr>
          <a:lstStyle/>
          <a:p>
            <a:r>
              <a:rPr lang="en-US" altLang="ja-JP" sz="1400" dirty="0">
                <a:solidFill>
                  <a:schemeClr val="dk1"/>
                </a:solidFill>
                <a:latin typeface="メイリオ" panose="020B0604030504040204" pitchFamily="50" charset="-128"/>
                <a:ea typeface="メイリオ" panose="020B0604030504040204" pitchFamily="50" charset="-128"/>
                <a:cs typeface="Meiryo"/>
                <a:sym typeface="Meiryo"/>
                <a:hlinkClick r:id="rId6"/>
              </a:rPr>
              <a:t>https://researchmap.jp/homata</a:t>
            </a:r>
            <a:endParaRPr lang="en-US" altLang="ja-JP" sz="2400" dirty="0">
              <a:latin typeface="メイリオ" panose="020B0604030504040204" pitchFamily="50" charset="-128"/>
              <a:ea typeface="メイリオ" panose="020B0604030504040204" pitchFamily="50" charset="-128"/>
            </a:endParaRPr>
          </a:p>
          <a:p>
            <a:r>
              <a:rPr lang="en-US" altLang="ja-JP" sz="1400" dirty="0">
                <a:solidFill>
                  <a:schemeClr val="dk1"/>
                </a:solidFill>
                <a:latin typeface="メイリオ" panose="020B0604030504040204" pitchFamily="50" charset="-128"/>
                <a:ea typeface="メイリオ" panose="020B0604030504040204" pitchFamily="50" charset="-128"/>
                <a:cs typeface="Meiryo"/>
                <a:sym typeface="Meiryo"/>
                <a:hlinkClick r:id="rId7"/>
              </a:rPr>
              <a:t>https://hackmd.io/@homata/self-introduction</a:t>
            </a:r>
            <a:endParaRPr lang="en-US" altLang="ja-JP" sz="1400" dirty="0">
              <a:solidFill>
                <a:schemeClr val="dk1"/>
              </a:solidFill>
              <a:latin typeface="メイリオ" panose="020B0604030504040204" pitchFamily="50" charset="-128"/>
              <a:ea typeface="メイリオ" panose="020B0604030504040204" pitchFamily="50" charset="-128"/>
              <a:cs typeface="Meiryo"/>
              <a:sym typeface="Meiryo"/>
            </a:endParaRPr>
          </a:p>
          <a:p>
            <a:endParaRPr lang="en-US" altLang="ja-JP" sz="1400" dirty="0">
              <a:solidFill>
                <a:schemeClr val="dk1"/>
              </a:solidFill>
              <a:latin typeface="Meiryo"/>
              <a:ea typeface="Meiryo"/>
              <a:cs typeface="Meiryo"/>
              <a:sym typeface="Meiry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E16D-834C-28A5-48A0-B2CAACC8C1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5AAF89-EED3-22F5-D3B7-1F9A46A72932}"/>
              </a:ext>
            </a:extLst>
          </p:cNvPr>
          <p:cNvSpPr>
            <a:spLocks noGrp="1"/>
          </p:cNvSpPr>
          <p:nvPr>
            <p:ph type="title"/>
          </p:nvPr>
        </p:nvSpPr>
        <p:spPr/>
        <p:txBody>
          <a:bodyPr/>
          <a:lstStyle/>
          <a:p>
            <a:r>
              <a:rPr kumimoji="1" lang="ja-JP" altLang="en-US" dirty="0"/>
              <a:t>授業について</a:t>
            </a:r>
          </a:p>
        </p:txBody>
      </p:sp>
      <p:sp>
        <p:nvSpPr>
          <p:cNvPr id="3" name="テキスト プレースホルダー 2">
            <a:extLst>
              <a:ext uri="{FF2B5EF4-FFF2-40B4-BE49-F238E27FC236}">
                <a16:creationId xmlns:a16="http://schemas.microsoft.com/office/drawing/2014/main" id="{6EFAA656-C75F-6DD2-2824-4C4469AD58EB}"/>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268625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2EFE3466-EE96-D6E7-A65C-095B68B42D5E}"/>
              </a:ext>
            </a:extLst>
          </p:cNvPr>
          <p:cNvSpPr>
            <a:spLocks noGrp="1"/>
          </p:cNvSpPr>
          <p:nvPr>
            <p:ph type="title"/>
          </p:nvPr>
        </p:nvSpPr>
        <p:spPr/>
        <p:txBody>
          <a:bodyPr/>
          <a:lstStyle/>
          <a:p>
            <a:r>
              <a:rPr lang="zh-TW" altLang="en-US" dirty="0"/>
              <a:t>授業時間</a:t>
            </a:r>
            <a:endParaRPr lang="ja-JP" altLang="en-US" dirty="0"/>
          </a:p>
        </p:txBody>
      </p:sp>
      <p:sp>
        <p:nvSpPr>
          <p:cNvPr id="5" name="コンテンツ プレースホルダー 4">
            <a:extLst>
              <a:ext uri="{FF2B5EF4-FFF2-40B4-BE49-F238E27FC236}">
                <a16:creationId xmlns:a16="http://schemas.microsoft.com/office/drawing/2014/main" id="{619DD00A-A7C7-28A9-10F5-85F7498FBEA3}"/>
              </a:ext>
            </a:extLst>
          </p:cNvPr>
          <p:cNvSpPr>
            <a:spLocks noGrp="1"/>
          </p:cNvSpPr>
          <p:nvPr>
            <p:ph idx="1"/>
          </p:nvPr>
        </p:nvSpPr>
        <p:spPr/>
        <p:txBody>
          <a:bodyPr/>
          <a:lstStyle/>
          <a:p>
            <a:pPr>
              <a:buFont typeface="Wingdings" panose="05000000000000000000" pitchFamily="2" charset="2"/>
              <a:buChar char="l"/>
            </a:pPr>
            <a:r>
              <a:rPr lang="en-US" altLang="zh-TW" dirty="0"/>
              <a:t> </a:t>
            </a:r>
            <a:r>
              <a:rPr lang="en-US" altLang="zh-TW" dirty="0">
                <a:solidFill>
                  <a:schemeClr val="accent4">
                    <a:lumMod val="75000"/>
                  </a:schemeClr>
                </a:solidFill>
              </a:rPr>
              <a:t>1</a:t>
            </a:r>
            <a:r>
              <a:rPr lang="zh-TW" altLang="en-US" dirty="0">
                <a:solidFill>
                  <a:schemeClr val="accent4">
                    <a:lumMod val="75000"/>
                  </a:schemeClr>
                </a:solidFill>
              </a:rPr>
              <a:t>限　  </a:t>
            </a:r>
            <a:r>
              <a:rPr lang="en-US" altLang="zh-TW" dirty="0">
                <a:solidFill>
                  <a:schemeClr val="accent4">
                    <a:lumMod val="75000"/>
                  </a:schemeClr>
                </a:solidFill>
              </a:rPr>
              <a:t>9:00-10:45  </a:t>
            </a:r>
          </a:p>
          <a:p>
            <a:pPr>
              <a:buFont typeface="Wingdings" panose="05000000000000000000" pitchFamily="2" charset="2"/>
              <a:buChar char="l"/>
            </a:pPr>
            <a:r>
              <a:rPr lang="en-US" altLang="zh-TW" dirty="0">
                <a:solidFill>
                  <a:srgbClr val="FF0000"/>
                </a:solidFill>
              </a:rPr>
              <a:t> 2</a:t>
            </a:r>
            <a:r>
              <a:rPr lang="zh-TW" altLang="en-US" dirty="0">
                <a:solidFill>
                  <a:srgbClr val="FF0000"/>
                </a:solidFill>
              </a:rPr>
              <a:t>限　  </a:t>
            </a:r>
            <a:r>
              <a:rPr lang="en-US" altLang="zh-TW" dirty="0">
                <a:solidFill>
                  <a:srgbClr val="FF0000"/>
                </a:solidFill>
              </a:rPr>
              <a:t>10:55-12:40 </a:t>
            </a:r>
          </a:p>
          <a:p>
            <a:pPr>
              <a:buFont typeface="Wingdings" panose="05000000000000000000" pitchFamily="2" charset="2"/>
              <a:buChar char="l"/>
            </a:pPr>
            <a:r>
              <a:rPr lang="ja-JP" altLang="en-US" dirty="0"/>
              <a:t> 昼休み</a:t>
            </a:r>
            <a:r>
              <a:rPr lang="en-US" altLang="zh-TW" dirty="0"/>
              <a:t> 12:40-13:25</a:t>
            </a:r>
          </a:p>
          <a:p>
            <a:pPr>
              <a:buFont typeface="Wingdings" panose="05000000000000000000" pitchFamily="2" charset="2"/>
              <a:buChar char="l"/>
            </a:pPr>
            <a:r>
              <a:rPr lang="en-US" altLang="zh-TW" dirty="0"/>
              <a:t> </a:t>
            </a:r>
            <a:r>
              <a:rPr lang="en-US" altLang="zh-TW" dirty="0">
                <a:solidFill>
                  <a:srgbClr val="FF0000"/>
                </a:solidFill>
              </a:rPr>
              <a:t>3</a:t>
            </a:r>
            <a:r>
              <a:rPr lang="zh-TW" altLang="en-US" dirty="0">
                <a:solidFill>
                  <a:srgbClr val="FF0000"/>
                </a:solidFill>
              </a:rPr>
              <a:t>限　  </a:t>
            </a:r>
            <a:r>
              <a:rPr lang="en-US" altLang="zh-TW" dirty="0">
                <a:solidFill>
                  <a:srgbClr val="FF0000"/>
                </a:solidFill>
              </a:rPr>
              <a:t>13:25-15:10  </a:t>
            </a:r>
          </a:p>
          <a:p>
            <a:pPr>
              <a:buFont typeface="Wingdings" panose="05000000000000000000" pitchFamily="2" charset="2"/>
              <a:buChar char="l"/>
            </a:pPr>
            <a:r>
              <a:rPr lang="en-US" altLang="zh-TW" dirty="0">
                <a:solidFill>
                  <a:srgbClr val="FF0000"/>
                </a:solidFill>
              </a:rPr>
              <a:t> 4</a:t>
            </a:r>
            <a:r>
              <a:rPr lang="zh-TW" altLang="en-US" dirty="0">
                <a:solidFill>
                  <a:srgbClr val="FF0000"/>
                </a:solidFill>
              </a:rPr>
              <a:t>限　  </a:t>
            </a:r>
            <a:r>
              <a:rPr lang="en-US" altLang="zh-TW" dirty="0">
                <a:solidFill>
                  <a:srgbClr val="FF0000"/>
                </a:solidFill>
              </a:rPr>
              <a:t>15:20-17:05  </a:t>
            </a:r>
          </a:p>
          <a:p>
            <a:pPr>
              <a:buFont typeface="Wingdings" panose="05000000000000000000" pitchFamily="2" charset="2"/>
              <a:buChar char="l"/>
            </a:pPr>
            <a:r>
              <a:rPr lang="en-US" altLang="zh-TW" dirty="0"/>
              <a:t> 5</a:t>
            </a:r>
            <a:r>
              <a:rPr lang="zh-TW" altLang="en-US" dirty="0"/>
              <a:t>限　  </a:t>
            </a:r>
            <a:r>
              <a:rPr lang="en-US" altLang="zh-TW" dirty="0"/>
              <a:t>17:15-19:00  </a:t>
            </a:r>
          </a:p>
          <a:p>
            <a:pPr>
              <a:buFont typeface="Wingdings" panose="05000000000000000000" pitchFamily="2" charset="2"/>
              <a:buChar char="l"/>
            </a:pPr>
            <a:r>
              <a:rPr lang="en-US" altLang="zh-TW" dirty="0"/>
              <a:t> 6</a:t>
            </a:r>
            <a:r>
              <a:rPr lang="zh-TW" altLang="en-US" dirty="0"/>
              <a:t>限　  </a:t>
            </a:r>
            <a:r>
              <a:rPr lang="en-US" altLang="zh-TW" dirty="0"/>
              <a:t>19:10-20:55  </a:t>
            </a:r>
          </a:p>
          <a:p>
            <a:pPr marL="0" indent="0">
              <a:buNone/>
            </a:pPr>
            <a:endParaRPr lang="en-US" altLang="zh-TW" dirty="0"/>
          </a:p>
          <a:p>
            <a:pPr marL="0" indent="0">
              <a:buNone/>
            </a:pPr>
            <a:endParaRPr lang="ja-JP" altLang="en-US" dirty="0"/>
          </a:p>
        </p:txBody>
      </p:sp>
    </p:spTree>
    <p:extLst>
      <p:ext uri="{BB962C8B-B14F-4D97-AF65-F5344CB8AC3E}">
        <p14:creationId xmlns:p14="http://schemas.microsoft.com/office/powerpoint/2010/main" val="3508773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F6EBDA-CFDE-2978-D69D-BB68E9B7CF73}"/>
              </a:ext>
            </a:extLst>
          </p:cNvPr>
          <p:cNvSpPr>
            <a:spLocks noGrp="1"/>
          </p:cNvSpPr>
          <p:nvPr>
            <p:ph type="title"/>
          </p:nvPr>
        </p:nvSpPr>
        <p:spPr/>
        <p:txBody>
          <a:bodyPr/>
          <a:lstStyle/>
          <a:p>
            <a:r>
              <a:rPr lang="en-US" altLang="zh-TW" dirty="0"/>
              <a:t>2026</a:t>
            </a:r>
            <a:r>
              <a:rPr lang="zh-TW" altLang="en-US" dirty="0"/>
              <a:t>年度  集中授業 実施計画書</a:t>
            </a:r>
            <a:endParaRPr kumimoji="1" lang="ja-JP" altLang="en-US" dirty="0"/>
          </a:p>
        </p:txBody>
      </p:sp>
      <p:sp>
        <p:nvSpPr>
          <p:cNvPr id="3" name="コンテンツ プレースホルダー 2">
            <a:extLst>
              <a:ext uri="{FF2B5EF4-FFF2-40B4-BE49-F238E27FC236}">
                <a16:creationId xmlns:a16="http://schemas.microsoft.com/office/drawing/2014/main" id="{94DD881C-53CB-A116-C4E6-5EFB4F8F7593}"/>
              </a:ext>
            </a:extLst>
          </p:cNvPr>
          <p:cNvSpPr>
            <a:spLocks noGrp="1"/>
          </p:cNvSpPr>
          <p:nvPr>
            <p:ph idx="1"/>
          </p:nvPr>
        </p:nvSpPr>
        <p:spPr>
          <a:xfrm>
            <a:off x="724786" y="1513737"/>
            <a:ext cx="10515600" cy="4351338"/>
          </a:xfrm>
        </p:spPr>
        <p:txBody>
          <a:bodyPr>
            <a:normAutofit fontScale="92500" lnSpcReduction="20000"/>
          </a:bodyPr>
          <a:lstStyle/>
          <a:p>
            <a:pPr marL="0" indent="0">
              <a:buNone/>
            </a:pPr>
            <a:r>
              <a:rPr lang="ja-JP" altLang="en-US" dirty="0"/>
              <a:t>春学期 プログラミング基礎</a:t>
            </a:r>
            <a:r>
              <a:rPr lang="en-US" altLang="ja-JP" dirty="0"/>
              <a:t>A/</a:t>
            </a:r>
            <a:r>
              <a:rPr lang="ja-JP" altLang="en-US" dirty="0"/>
              <a:t>コンピューティング応用</a:t>
            </a:r>
            <a:r>
              <a:rPr lang="en-US" altLang="ja-JP" dirty="0"/>
              <a:t>E</a:t>
            </a:r>
            <a:endParaRPr kumimoji="1" lang="en-US" altLang="zh-TW" dirty="0"/>
          </a:p>
          <a:p>
            <a:pPr marL="0" indent="0">
              <a:buNone/>
            </a:pPr>
            <a:endParaRPr kumimoji="1" lang="en-US" altLang="zh-TW" dirty="0"/>
          </a:p>
          <a:p>
            <a:pPr marL="514350" indent="-514350">
              <a:buFont typeface="+mj-lt"/>
              <a:buAutoNum type="arabicPeriod"/>
            </a:pPr>
            <a:r>
              <a:rPr kumimoji="1" lang="en-US" altLang="zh-TW" dirty="0"/>
              <a:t>2026</a:t>
            </a:r>
            <a:r>
              <a:rPr kumimoji="1" lang="ja-JP" altLang="en-US" dirty="0"/>
              <a:t>年</a:t>
            </a:r>
            <a:r>
              <a:rPr kumimoji="1" lang="en-US" altLang="zh-TW" dirty="0"/>
              <a:t>7</a:t>
            </a:r>
            <a:r>
              <a:rPr kumimoji="1" lang="zh-TW" altLang="en-US" dirty="0"/>
              <a:t>月</a:t>
            </a:r>
            <a:r>
              <a:rPr kumimoji="1" lang="en-US" altLang="zh-TW" dirty="0"/>
              <a:t>27</a:t>
            </a:r>
            <a:r>
              <a:rPr kumimoji="1" lang="zh-TW" altLang="en-US" dirty="0"/>
              <a:t>日（月）</a:t>
            </a:r>
            <a:r>
              <a:rPr kumimoji="1" lang="en-US" altLang="zh-TW" dirty="0"/>
              <a:t>2</a:t>
            </a:r>
            <a:r>
              <a:rPr kumimoji="1" lang="zh-TW" altLang="en-US" dirty="0"/>
              <a:t>～</a:t>
            </a:r>
            <a:r>
              <a:rPr kumimoji="1" lang="en-US" altLang="zh-TW" dirty="0"/>
              <a:t>4</a:t>
            </a:r>
            <a:r>
              <a:rPr kumimoji="1" lang="zh-TW" altLang="en-US" dirty="0"/>
              <a:t>時限 </a:t>
            </a:r>
            <a:r>
              <a:rPr kumimoji="1" lang="en-US" altLang="zh-TW" dirty="0"/>
              <a:t>(</a:t>
            </a:r>
            <a:r>
              <a:rPr kumimoji="1" lang="ja-JP" altLang="en-US" dirty="0"/>
              <a:t>第</a:t>
            </a:r>
            <a:r>
              <a:rPr kumimoji="1" lang="en-US" altLang="ja-JP" dirty="0"/>
              <a:t>1</a:t>
            </a:r>
            <a:r>
              <a:rPr lang="ja-JP" altLang="en-US" dirty="0"/>
              <a:t>回～第</a:t>
            </a:r>
            <a:r>
              <a:rPr lang="en-US" altLang="ja-JP" dirty="0"/>
              <a:t>3</a:t>
            </a:r>
            <a:r>
              <a:rPr lang="ja-JP" altLang="en-US" dirty="0"/>
              <a:t>回</a:t>
            </a:r>
            <a:r>
              <a:rPr kumimoji="1" lang="en-US" altLang="zh-TW" dirty="0"/>
              <a:t>)</a:t>
            </a:r>
            <a:endParaRPr kumimoji="1" lang="zh-TW" altLang="en-US" dirty="0"/>
          </a:p>
          <a:p>
            <a:pPr marL="514350" indent="-514350">
              <a:buFont typeface="+mj-lt"/>
              <a:buAutoNum type="arabicPeriod"/>
            </a:pPr>
            <a:r>
              <a:rPr lang="en-US" altLang="zh-TW" dirty="0"/>
              <a:t>2026</a:t>
            </a:r>
            <a:r>
              <a:rPr lang="ja-JP" altLang="en-US" dirty="0"/>
              <a:t>年</a:t>
            </a:r>
            <a:r>
              <a:rPr kumimoji="1" lang="en-US" altLang="zh-TW" dirty="0"/>
              <a:t>7</a:t>
            </a:r>
            <a:r>
              <a:rPr kumimoji="1" lang="zh-TW" altLang="en-US" dirty="0"/>
              <a:t>月</a:t>
            </a:r>
            <a:r>
              <a:rPr kumimoji="1" lang="en-US" altLang="zh-TW" dirty="0"/>
              <a:t>28</a:t>
            </a:r>
            <a:r>
              <a:rPr kumimoji="1" lang="zh-TW" altLang="en-US" dirty="0"/>
              <a:t>日（火）</a:t>
            </a:r>
            <a:r>
              <a:rPr kumimoji="1" lang="en-US" altLang="zh-TW" dirty="0"/>
              <a:t>2</a:t>
            </a:r>
            <a:r>
              <a:rPr kumimoji="1" lang="zh-TW" altLang="en-US" dirty="0"/>
              <a:t>～</a:t>
            </a:r>
            <a:r>
              <a:rPr kumimoji="1" lang="en-US" altLang="zh-TW" dirty="0"/>
              <a:t>4</a:t>
            </a:r>
            <a:r>
              <a:rPr kumimoji="1" lang="zh-TW" altLang="en-US" dirty="0"/>
              <a:t>時限 </a:t>
            </a:r>
            <a:r>
              <a:rPr lang="en-US" altLang="zh-TW" dirty="0"/>
              <a:t>(</a:t>
            </a:r>
            <a:r>
              <a:rPr lang="ja-JP" altLang="en-US" dirty="0"/>
              <a:t>第</a:t>
            </a:r>
            <a:r>
              <a:rPr lang="en-US" altLang="ja-JP" dirty="0"/>
              <a:t>4</a:t>
            </a:r>
            <a:r>
              <a:rPr lang="ja-JP" altLang="en-US" dirty="0"/>
              <a:t>回～第</a:t>
            </a:r>
            <a:r>
              <a:rPr lang="en-US" altLang="ja-JP" dirty="0"/>
              <a:t>6</a:t>
            </a:r>
            <a:r>
              <a:rPr lang="ja-JP" altLang="en-US" dirty="0"/>
              <a:t>回</a:t>
            </a:r>
            <a:r>
              <a:rPr lang="en-US" altLang="zh-TW" dirty="0"/>
              <a:t>)</a:t>
            </a:r>
            <a:endParaRPr kumimoji="1" lang="zh-TW" altLang="en-US" dirty="0"/>
          </a:p>
          <a:p>
            <a:pPr marL="514350" indent="-514350">
              <a:buFont typeface="+mj-lt"/>
              <a:buAutoNum type="arabicPeriod"/>
            </a:pPr>
            <a:r>
              <a:rPr lang="en-US" altLang="zh-TW" dirty="0"/>
              <a:t>2026</a:t>
            </a:r>
            <a:r>
              <a:rPr lang="ja-JP" altLang="en-US" dirty="0"/>
              <a:t>年</a:t>
            </a:r>
            <a:r>
              <a:rPr kumimoji="1" lang="en-US" altLang="zh-TW" dirty="0"/>
              <a:t>7</a:t>
            </a:r>
            <a:r>
              <a:rPr kumimoji="1" lang="zh-TW" altLang="en-US" dirty="0"/>
              <a:t>月</a:t>
            </a:r>
            <a:r>
              <a:rPr kumimoji="1" lang="en-US" altLang="zh-TW" dirty="0"/>
              <a:t>29</a:t>
            </a:r>
            <a:r>
              <a:rPr kumimoji="1" lang="zh-TW" altLang="en-US" dirty="0"/>
              <a:t>日（水）</a:t>
            </a:r>
            <a:r>
              <a:rPr kumimoji="1" lang="en-US" altLang="zh-TW" dirty="0"/>
              <a:t>2</a:t>
            </a:r>
            <a:r>
              <a:rPr kumimoji="1" lang="zh-TW" altLang="en-US" dirty="0"/>
              <a:t>～</a:t>
            </a:r>
            <a:r>
              <a:rPr kumimoji="1" lang="en-US" altLang="zh-TW" dirty="0"/>
              <a:t>4</a:t>
            </a:r>
            <a:r>
              <a:rPr kumimoji="1" lang="zh-TW" altLang="en-US" dirty="0"/>
              <a:t>時限 </a:t>
            </a:r>
            <a:r>
              <a:rPr lang="en-US" altLang="zh-TW" dirty="0"/>
              <a:t>(</a:t>
            </a:r>
            <a:r>
              <a:rPr lang="ja-JP" altLang="en-US" dirty="0"/>
              <a:t>第</a:t>
            </a:r>
            <a:r>
              <a:rPr lang="en-US" altLang="ja-JP" dirty="0"/>
              <a:t>7</a:t>
            </a:r>
            <a:r>
              <a:rPr lang="ja-JP" altLang="en-US" dirty="0"/>
              <a:t>回～第</a:t>
            </a:r>
            <a:r>
              <a:rPr lang="en-US" altLang="ja-JP" dirty="0"/>
              <a:t>9</a:t>
            </a:r>
            <a:r>
              <a:rPr lang="ja-JP" altLang="en-US" dirty="0"/>
              <a:t>回</a:t>
            </a:r>
            <a:r>
              <a:rPr lang="en-US" altLang="zh-TW" dirty="0"/>
              <a:t>)</a:t>
            </a:r>
            <a:endParaRPr kumimoji="1" lang="zh-TW" altLang="en-US" dirty="0"/>
          </a:p>
          <a:p>
            <a:pPr marL="514350" indent="-514350">
              <a:buFont typeface="+mj-lt"/>
              <a:buAutoNum type="arabicPeriod"/>
            </a:pPr>
            <a:r>
              <a:rPr lang="en-US" altLang="zh-TW" dirty="0"/>
              <a:t>2026</a:t>
            </a:r>
            <a:r>
              <a:rPr lang="ja-JP" altLang="en-US" dirty="0"/>
              <a:t>年</a:t>
            </a:r>
            <a:r>
              <a:rPr kumimoji="1" lang="en-US" altLang="zh-TW" dirty="0"/>
              <a:t>7</a:t>
            </a:r>
            <a:r>
              <a:rPr kumimoji="1" lang="zh-TW" altLang="en-US" dirty="0"/>
              <a:t>月</a:t>
            </a:r>
            <a:r>
              <a:rPr lang="en-US" altLang="zh-TW" dirty="0"/>
              <a:t>30</a:t>
            </a:r>
            <a:r>
              <a:rPr kumimoji="1" lang="zh-TW" altLang="en-US" dirty="0"/>
              <a:t>日（木）</a:t>
            </a:r>
            <a:r>
              <a:rPr kumimoji="1" lang="en-US" altLang="zh-TW" dirty="0"/>
              <a:t>1</a:t>
            </a:r>
            <a:r>
              <a:rPr kumimoji="1" lang="zh-TW" altLang="en-US" dirty="0"/>
              <a:t>～</a:t>
            </a:r>
            <a:r>
              <a:rPr kumimoji="1" lang="en-US" altLang="zh-TW" dirty="0"/>
              <a:t>4</a:t>
            </a:r>
            <a:r>
              <a:rPr kumimoji="1" lang="zh-TW" altLang="en-US" dirty="0"/>
              <a:t>時限</a:t>
            </a:r>
            <a:r>
              <a:rPr lang="ja-JP" altLang="en-US" dirty="0"/>
              <a:t> </a:t>
            </a:r>
            <a:r>
              <a:rPr lang="en-US" altLang="zh-TW" dirty="0"/>
              <a:t>(</a:t>
            </a:r>
            <a:r>
              <a:rPr lang="ja-JP" altLang="en-US" dirty="0"/>
              <a:t>第</a:t>
            </a:r>
            <a:r>
              <a:rPr lang="en-US" altLang="ja-JP" dirty="0"/>
              <a:t>10</a:t>
            </a:r>
            <a:r>
              <a:rPr lang="ja-JP" altLang="en-US" dirty="0"/>
              <a:t>回～第</a:t>
            </a:r>
            <a:r>
              <a:rPr lang="en-US" altLang="ja-JP" dirty="0"/>
              <a:t>13</a:t>
            </a:r>
            <a:r>
              <a:rPr lang="ja-JP" altLang="en-US" dirty="0"/>
              <a:t>回</a:t>
            </a:r>
            <a:r>
              <a:rPr lang="en-US" altLang="zh-TW" dirty="0"/>
              <a:t>)</a:t>
            </a:r>
            <a:endParaRPr lang="zh-TW" altLang="en-US" dirty="0"/>
          </a:p>
          <a:p>
            <a:pPr marL="0" indent="0">
              <a:buNone/>
            </a:pPr>
            <a:r>
              <a:rPr lang="en-US" altLang="ja-JP" dirty="0"/>
              <a:t>   (</a:t>
            </a:r>
            <a:r>
              <a:rPr lang="ja-JP" altLang="en-US" dirty="0"/>
              <a:t>最終日のみ</a:t>
            </a:r>
            <a:r>
              <a:rPr lang="en-US" altLang="ja-JP" dirty="0"/>
              <a:t>1</a:t>
            </a:r>
            <a:r>
              <a:rPr lang="ja-JP" altLang="en-US" dirty="0"/>
              <a:t>限からです</a:t>
            </a:r>
            <a:r>
              <a:rPr lang="en-US" altLang="ja-JP" dirty="0"/>
              <a:t>)</a:t>
            </a:r>
            <a:endParaRPr kumimoji="1" lang="zh-TW" altLang="en-US" dirty="0"/>
          </a:p>
          <a:p>
            <a:pPr marL="0" indent="0">
              <a:buNone/>
            </a:pPr>
            <a:endParaRPr kumimoji="1" lang="en-US" altLang="zh-TW" dirty="0"/>
          </a:p>
          <a:p>
            <a:pPr marL="0" indent="0">
              <a:buNone/>
            </a:pPr>
            <a:r>
              <a:rPr lang="en-US" altLang="zh-TW" dirty="0"/>
              <a:t>105</a:t>
            </a:r>
            <a:r>
              <a:rPr lang="zh-TW" altLang="en-US" dirty="0"/>
              <a:t>分</a:t>
            </a:r>
            <a:r>
              <a:rPr lang="en-US" altLang="zh-TW" dirty="0"/>
              <a:t>×13</a:t>
            </a:r>
            <a:r>
              <a:rPr lang="zh-TW" altLang="en-US" dirty="0"/>
              <a:t>回</a:t>
            </a:r>
            <a:endParaRPr lang="en-US" altLang="zh-TW" dirty="0"/>
          </a:p>
          <a:p>
            <a:pPr marL="0" indent="0">
              <a:buNone/>
            </a:pPr>
            <a:r>
              <a:rPr kumimoji="1" lang="zh-TW" altLang="en-US" dirty="0"/>
              <a:t>実施場所</a:t>
            </a:r>
            <a:r>
              <a:rPr kumimoji="1" lang="en-US" altLang="zh-TW" dirty="0"/>
              <a:t>: </a:t>
            </a:r>
            <a:r>
              <a:rPr lang="en-US" altLang="zh-TW" dirty="0"/>
              <a:t>9201</a:t>
            </a:r>
            <a:r>
              <a:rPr lang="zh-TW" altLang="en-US" dirty="0"/>
              <a:t>教室 </a:t>
            </a:r>
            <a:r>
              <a:rPr lang="en-US" altLang="zh-TW" dirty="0"/>
              <a:t>(9</a:t>
            </a:r>
            <a:r>
              <a:rPr lang="zh-TW" altLang="en-US" dirty="0"/>
              <a:t>号館 </a:t>
            </a:r>
            <a:r>
              <a:rPr lang="en-US" altLang="zh-TW" dirty="0"/>
              <a:t>2</a:t>
            </a:r>
            <a:r>
              <a:rPr lang="zh-TW" altLang="en-US" dirty="0"/>
              <a:t>階 </a:t>
            </a:r>
            <a:r>
              <a:rPr lang="en-US" altLang="zh-TW" dirty="0"/>
              <a:t>)</a:t>
            </a:r>
            <a:endParaRPr kumimoji="1" lang="ja-JP" altLang="en-US" dirty="0"/>
          </a:p>
        </p:txBody>
      </p:sp>
    </p:spTree>
    <p:extLst>
      <p:ext uri="{BB962C8B-B14F-4D97-AF65-F5344CB8AC3E}">
        <p14:creationId xmlns:p14="http://schemas.microsoft.com/office/powerpoint/2010/main" val="2430369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3FCA4F-7FEA-FAA2-5440-1FCC3D60406F}"/>
              </a:ext>
            </a:extLst>
          </p:cNvPr>
          <p:cNvSpPr>
            <a:spLocks noGrp="1"/>
          </p:cNvSpPr>
          <p:nvPr>
            <p:ph type="title"/>
          </p:nvPr>
        </p:nvSpPr>
        <p:spPr/>
        <p:txBody>
          <a:bodyPr/>
          <a:lstStyle/>
          <a:p>
            <a:r>
              <a:rPr kumimoji="1" lang="ja-JP" altLang="en-US" b="1" dirty="0"/>
              <a:t>授業の概要</a:t>
            </a:r>
          </a:p>
        </p:txBody>
      </p:sp>
      <p:sp>
        <p:nvSpPr>
          <p:cNvPr id="3" name="コンテンツ プレースホルダー 2">
            <a:extLst>
              <a:ext uri="{FF2B5EF4-FFF2-40B4-BE49-F238E27FC236}">
                <a16:creationId xmlns:a16="http://schemas.microsoft.com/office/drawing/2014/main" id="{CB33C54A-BEA9-03ED-8E13-D412B369F05F}"/>
              </a:ext>
            </a:extLst>
          </p:cNvPr>
          <p:cNvSpPr>
            <a:spLocks noGrp="1"/>
          </p:cNvSpPr>
          <p:nvPr>
            <p:ph idx="1"/>
          </p:nvPr>
        </p:nvSpPr>
        <p:spPr>
          <a:xfrm>
            <a:off x="838200" y="1690688"/>
            <a:ext cx="10515600" cy="4351338"/>
          </a:xfrm>
        </p:spPr>
        <p:txBody>
          <a:bodyPr>
            <a:normAutofit/>
          </a:bodyPr>
          <a:lstStyle/>
          <a:p>
            <a:pPr marL="0" indent="0">
              <a:buNone/>
            </a:pPr>
            <a:r>
              <a:rPr kumimoji="1" lang="ja-JP" altLang="en-US" sz="3200" dirty="0"/>
              <a:t>初⼼者向けの </a:t>
            </a:r>
            <a:r>
              <a:rPr kumimoji="1" lang="en-US" altLang="ja-JP" sz="3200" dirty="0"/>
              <a:t>Python</a:t>
            </a:r>
            <a:r>
              <a:rPr kumimoji="1" lang="ja-JP" altLang="en-US" sz="3200" dirty="0"/>
              <a:t>プログラミング⼊⾨です。</a:t>
            </a:r>
            <a:endParaRPr kumimoji="1" lang="en-US" altLang="ja-JP" sz="3200" dirty="0"/>
          </a:p>
          <a:p>
            <a:pPr marL="0" indent="0">
              <a:buNone/>
            </a:pPr>
            <a:endParaRPr kumimoji="1" lang="en-US" altLang="ja-JP" sz="3200" dirty="0"/>
          </a:p>
          <a:p>
            <a:pPr marL="0" indent="0">
              <a:buNone/>
            </a:pPr>
            <a:r>
              <a:rPr kumimoji="1" lang="en-US" altLang="ja-JP" sz="3200" dirty="0"/>
              <a:t>Python</a:t>
            </a:r>
            <a:r>
              <a:rPr kumimoji="1" lang="ja-JP" altLang="en-US" sz="3200" dirty="0"/>
              <a:t>の基本⽂法を学ぶだけでなく、コンピューターやプログラミングの基礎知識となる部分を習得することを⽬標 としています。  </a:t>
            </a:r>
            <a:endParaRPr kumimoji="1" lang="en-US" altLang="ja-JP" sz="3200" dirty="0"/>
          </a:p>
          <a:p>
            <a:pPr marL="0" indent="0">
              <a:buNone/>
            </a:pPr>
            <a:endParaRPr kumimoji="1" lang="en-US" altLang="ja-JP" sz="3200" dirty="0"/>
          </a:p>
          <a:p>
            <a:pPr marL="0" indent="0">
              <a:buNone/>
            </a:pPr>
            <a:r>
              <a:rPr kumimoji="1" lang="ja-JP" altLang="en-US" sz="3200" dirty="0"/>
              <a:t>「プログラミング応⽤</a:t>
            </a:r>
            <a:r>
              <a:rPr kumimoji="1" lang="en-US" altLang="ja-JP" sz="3200" dirty="0"/>
              <a:t>A</a:t>
            </a:r>
            <a:r>
              <a:rPr kumimoji="1" lang="ja-JP" altLang="en-US" sz="3200" dirty="0"/>
              <a:t>」 で学ぶための基礎学習にもなってます。 </a:t>
            </a:r>
          </a:p>
        </p:txBody>
      </p:sp>
    </p:spTree>
    <p:extLst>
      <p:ext uri="{BB962C8B-B14F-4D97-AF65-F5344CB8AC3E}">
        <p14:creationId xmlns:p14="http://schemas.microsoft.com/office/powerpoint/2010/main" val="105986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B3965-6B5D-B7DF-B96F-489523E8E0B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77FF91-2C4B-5E1B-9027-3C920E06E48E}"/>
              </a:ext>
            </a:extLst>
          </p:cNvPr>
          <p:cNvSpPr>
            <a:spLocks noGrp="1"/>
          </p:cNvSpPr>
          <p:nvPr>
            <p:ph type="title"/>
          </p:nvPr>
        </p:nvSpPr>
        <p:spPr/>
        <p:txBody>
          <a:bodyPr/>
          <a:lstStyle/>
          <a:p>
            <a:r>
              <a:rPr kumimoji="1" lang="ja-JP" altLang="en-US" b="1" dirty="0"/>
              <a:t>授業の目的・目標</a:t>
            </a:r>
          </a:p>
        </p:txBody>
      </p:sp>
      <p:sp>
        <p:nvSpPr>
          <p:cNvPr id="3" name="コンテンツ プレースホルダー 2">
            <a:extLst>
              <a:ext uri="{FF2B5EF4-FFF2-40B4-BE49-F238E27FC236}">
                <a16:creationId xmlns:a16="http://schemas.microsoft.com/office/drawing/2014/main" id="{3C5A1B3E-9588-C89E-7CDE-51F88ACD1BF6}"/>
              </a:ext>
            </a:extLst>
          </p:cNvPr>
          <p:cNvSpPr>
            <a:spLocks noGrp="1"/>
          </p:cNvSpPr>
          <p:nvPr>
            <p:ph idx="1"/>
          </p:nvPr>
        </p:nvSpPr>
        <p:spPr/>
        <p:txBody>
          <a:bodyPr>
            <a:normAutofit/>
          </a:bodyPr>
          <a:lstStyle/>
          <a:p>
            <a:pPr marL="0" indent="0">
              <a:buNone/>
            </a:pPr>
            <a:r>
              <a:rPr lang="ja-JP" altLang="en-US" dirty="0"/>
              <a:t>目的</a:t>
            </a:r>
            <a:endParaRPr lang="en-US" altLang="ja-JP" dirty="0"/>
          </a:p>
          <a:p>
            <a:r>
              <a:rPr lang="en-US" altLang="ja-JP" dirty="0"/>
              <a:t>Python</a:t>
            </a:r>
            <a:r>
              <a:rPr lang="ja-JP" altLang="en-US" dirty="0"/>
              <a:t>プログラミングの基礎的な知識の習得</a:t>
            </a:r>
            <a:endParaRPr kumimoji="1" lang="en-US" altLang="ja-JP" dirty="0"/>
          </a:p>
          <a:p>
            <a:pPr marL="0" indent="0">
              <a:buNone/>
            </a:pPr>
            <a:endParaRPr lang="en-US" altLang="ja-JP" dirty="0"/>
          </a:p>
          <a:p>
            <a:pPr marL="0" indent="0">
              <a:buNone/>
            </a:pPr>
            <a:r>
              <a:rPr lang="ja-JP" altLang="en-US" dirty="0"/>
              <a:t>目標</a:t>
            </a:r>
            <a:endParaRPr lang="en-US" altLang="ja-JP" dirty="0"/>
          </a:p>
          <a:p>
            <a:r>
              <a:rPr lang="en-US" altLang="ja-JP" dirty="0"/>
              <a:t>Python</a:t>
            </a:r>
            <a:r>
              <a:rPr lang="ja-JP" altLang="en-US" dirty="0"/>
              <a:t>で簡単なプログラム開発ができるようになる。</a:t>
            </a:r>
            <a:endParaRPr lang="en-US" altLang="ja-JP" dirty="0"/>
          </a:p>
          <a:p>
            <a:r>
              <a:rPr lang="ja-JP" altLang="en-US" dirty="0"/>
              <a:t>様々なデータを収集・分析する準備ができる。</a:t>
            </a:r>
            <a:endParaRPr lang="en-US" altLang="ja-JP" dirty="0"/>
          </a:p>
          <a:p>
            <a:r>
              <a:rPr lang="ja-JP" altLang="en-US" dirty="0"/>
              <a:t>コンピューターとプログラミングの基本を理解する。</a:t>
            </a:r>
            <a:endParaRPr lang="en-US" altLang="ja-JP" dirty="0"/>
          </a:p>
        </p:txBody>
      </p:sp>
    </p:spTree>
    <p:extLst>
      <p:ext uri="{BB962C8B-B14F-4D97-AF65-F5344CB8AC3E}">
        <p14:creationId xmlns:p14="http://schemas.microsoft.com/office/powerpoint/2010/main" val="1745633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618EE-E1FE-1872-3DA5-160C99869C2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AAF0821-BA25-88A9-2331-AB0A07B610AB}"/>
              </a:ext>
            </a:extLst>
          </p:cNvPr>
          <p:cNvSpPr>
            <a:spLocks noGrp="1"/>
          </p:cNvSpPr>
          <p:nvPr>
            <p:ph type="title"/>
          </p:nvPr>
        </p:nvSpPr>
        <p:spPr/>
        <p:txBody>
          <a:bodyPr/>
          <a:lstStyle/>
          <a:p>
            <a:r>
              <a:rPr kumimoji="1" lang="ja-JP" altLang="en-US" dirty="0"/>
              <a:t>スケジュール </a:t>
            </a:r>
          </a:p>
        </p:txBody>
      </p:sp>
      <p:sp>
        <p:nvSpPr>
          <p:cNvPr id="3" name="コンテンツ プレースホルダー 2">
            <a:extLst>
              <a:ext uri="{FF2B5EF4-FFF2-40B4-BE49-F238E27FC236}">
                <a16:creationId xmlns:a16="http://schemas.microsoft.com/office/drawing/2014/main" id="{EEE0DB0A-096B-7744-3F54-225DB335C0BC}"/>
              </a:ext>
            </a:extLst>
          </p:cNvPr>
          <p:cNvSpPr>
            <a:spLocks noGrp="1"/>
          </p:cNvSpPr>
          <p:nvPr>
            <p:ph idx="1"/>
          </p:nvPr>
        </p:nvSpPr>
        <p:spPr>
          <a:xfrm>
            <a:off x="838200" y="1612973"/>
            <a:ext cx="10515600" cy="4879901"/>
          </a:xfrm>
        </p:spPr>
        <p:txBody>
          <a:bodyPr>
            <a:normAutofit fontScale="92500" lnSpcReduction="20000"/>
          </a:bodyPr>
          <a:lstStyle/>
          <a:p>
            <a:pPr marL="457200" lvl="1" indent="0">
              <a:buNone/>
            </a:pPr>
            <a:r>
              <a:rPr kumimoji="1" lang="ja-JP" altLang="en-US" dirty="0"/>
              <a:t>授業スケジュール（全</a:t>
            </a:r>
            <a:r>
              <a:rPr kumimoji="1" lang="en-US" altLang="ja-JP" dirty="0"/>
              <a:t>13</a:t>
            </a:r>
            <a:r>
              <a:rPr kumimoji="1" lang="ja-JP" altLang="en-US" dirty="0"/>
              <a:t>回）</a:t>
            </a:r>
            <a:endParaRPr kumimoji="1" lang="en-US" altLang="ja-JP" dirty="0"/>
          </a:p>
          <a:p>
            <a:pPr marL="457200" lvl="1" indent="0">
              <a:buNone/>
            </a:pPr>
            <a:endParaRPr kumimoji="1" lang="ja-JP" altLang="en-US" dirty="0"/>
          </a:p>
          <a:p>
            <a:pPr marL="914400" lvl="1" indent="-457200">
              <a:buFont typeface="+mj-lt"/>
              <a:buAutoNum type="arabicPeriod"/>
            </a:pPr>
            <a:r>
              <a:rPr kumimoji="1" lang="ja-JP" altLang="en-US" dirty="0"/>
              <a:t>第</a:t>
            </a:r>
            <a:r>
              <a:rPr kumimoji="1" lang="en-US" altLang="ja-JP" dirty="0"/>
              <a:t>1</a:t>
            </a:r>
            <a:r>
              <a:rPr kumimoji="1" lang="ja-JP" altLang="en-US" dirty="0"/>
              <a:t>回 オリエンテーション・</a:t>
            </a:r>
            <a:r>
              <a:rPr kumimoji="1" lang="en-US" altLang="ja-JP" dirty="0"/>
              <a:t>Google </a:t>
            </a:r>
            <a:r>
              <a:rPr kumimoji="1" lang="en-US" altLang="ja-JP" dirty="0" err="1"/>
              <a:t>Cloab</a:t>
            </a:r>
            <a:r>
              <a:rPr kumimoji="1" lang="ja-JP" altLang="en-US" dirty="0"/>
              <a:t>の使い方</a:t>
            </a:r>
          </a:p>
          <a:p>
            <a:pPr marL="914400" lvl="1" indent="-457200">
              <a:buFont typeface="+mj-lt"/>
              <a:buAutoNum type="arabicPeriod"/>
            </a:pPr>
            <a:r>
              <a:rPr kumimoji="1" lang="ja-JP" altLang="en-US" dirty="0"/>
              <a:t>第</a:t>
            </a:r>
            <a:r>
              <a:rPr kumimoji="1" lang="en-US" altLang="ja-JP" dirty="0"/>
              <a:t>2</a:t>
            </a:r>
            <a:r>
              <a:rPr kumimoji="1" lang="ja-JP" altLang="en-US" dirty="0"/>
              <a:t>回  コンピューターとプログラミングとは？</a:t>
            </a:r>
          </a:p>
          <a:p>
            <a:pPr marL="914400" lvl="1" indent="-457200">
              <a:buFont typeface="+mj-lt"/>
              <a:buAutoNum type="arabicPeriod"/>
            </a:pPr>
            <a:r>
              <a:rPr kumimoji="1" lang="ja-JP" altLang="en-US" dirty="0"/>
              <a:t>第</a:t>
            </a:r>
            <a:r>
              <a:rPr kumimoji="1" lang="en-US" altLang="ja-JP" dirty="0"/>
              <a:t>3</a:t>
            </a:r>
            <a:r>
              <a:rPr kumimoji="1" lang="ja-JP" altLang="en-US" dirty="0"/>
              <a:t>回  </a:t>
            </a:r>
            <a:r>
              <a:rPr kumimoji="1" lang="en-US" altLang="ja-JP" dirty="0"/>
              <a:t>Python</a:t>
            </a:r>
            <a:r>
              <a:rPr kumimoji="1" lang="ja-JP" altLang="en-US" dirty="0"/>
              <a:t>の基礎</a:t>
            </a:r>
          </a:p>
          <a:p>
            <a:pPr marL="914400" lvl="1" indent="-457200">
              <a:buFont typeface="+mj-lt"/>
              <a:buAutoNum type="arabicPeriod"/>
            </a:pPr>
            <a:r>
              <a:rPr kumimoji="1" lang="ja-JP" altLang="en-US" dirty="0"/>
              <a:t>第</a:t>
            </a:r>
            <a:r>
              <a:rPr kumimoji="1" lang="en-US" altLang="ja-JP" dirty="0"/>
              <a:t>4</a:t>
            </a:r>
            <a:r>
              <a:rPr kumimoji="1" lang="ja-JP" altLang="en-US" dirty="0"/>
              <a:t>回  数値演算と文字列</a:t>
            </a:r>
          </a:p>
          <a:p>
            <a:pPr marL="914400" lvl="1" indent="-457200">
              <a:buFont typeface="+mj-lt"/>
              <a:buAutoNum type="arabicPeriod"/>
            </a:pPr>
            <a:r>
              <a:rPr kumimoji="1" lang="ja-JP" altLang="en-US" dirty="0"/>
              <a:t>第</a:t>
            </a:r>
            <a:r>
              <a:rPr kumimoji="1" lang="en-US" altLang="ja-JP" dirty="0"/>
              <a:t>5</a:t>
            </a:r>
            <a:r>
              <a:rPr kumimoji="1" lang="ja-JP" altLang="en-US" dirty="0"/>
              <a:t>回  データ構造（数値、⽂字列、リスト、辞書）</a:t>
            </a:r>
          </a:p>
          <a:p>
            <a:pPr marL="914400" lvl="1" indent="-457200">
              <a:buFont typeface="+mj-lt"/>
              <a:buAutoNum type="arabicPeriod"/>
            </a:pPr>
            <a:r>
              <a:rPr kumimoji="1" lang="ja-JP" altLang="en-US" dirty="0"/>
              <a:t>第</a:t>
            </a:r>
            <a:r>
              <a:rPr kumimoji="1" lang="en-US" altLang="ja-JP" dirty="0"/>
              <a:t>6</a:t>
            </a:r>
            <a:r>
              <a:rPr kumimoji="1" lang="ja-JP" altLang="en-US" dirty="0"/>
              <a:t>回  条件分岐、ファイル⼊出⼒の基本</a:t>
            </a:r>
          </a:p>
          <a:p>
            <a:pPr marL="914400" lvl="1" indent="-457200">
              <a:buFont typeface="+mj-lt"/>
              <a:buAutoNum type="arabicPeriod"/>
            </a:pPr>
            <a:r>
              <a:rPr kumimoji="1" lang="ja-JP" altLang="en-US" dirty="0"/>
              <a:t>第</a:t>
            </a:r>
            <a:r>
              <a:rPr kumimoji="1" lang="en-US" altLang="ja-JP" dirty="0"/>
              <a:t>7</a:t>
            </a:r>
            <a:r>
              <a:rPr kumimoji="1" lang="ja-JP" altLang="en-US" dirty="0"/>
              <a:t>回  テスト・デバッグ、コードスタイル</a:t>
            </a:r>
          </a:p>
          <a:p>
            <a:pPr marL="914400" lvl="1" indent="-457200">
              <a:buFont typeface="+mj-lt"/>
              <a:buAutoNum type="arabicPeriod"/>
            </a:pPr>
            <a:r>
              <a:rPr kumimoji="1" lang="ja-JP" altLang="en-US" dirty="0"/>
              <a:t>第</a:t>
            </a:r>
            <a:r>
              <a:rPr kumimoji="1" lang="en-US" altLang="ja-JP" dirty="0"/>
              <a:t>8</a:t>
            </a:r>
            <a:r>
              <a:rPr kumimoji="1" lang="ja-JP" altLang="en-US" dirty="0"/>
              <a:t>回  制御フロー（条件分岐、繰り返し、イテレータ、内包表記）</a:t>
            </a:r>
          </a:p>
          <a:p>
            <a:pPr marL="914400" lvl="1" indent="-457200">
              <a:buFont typeface="+mj-lt"/>
              <a:buAutoNum type="arabicPeriod"/>
            </a:pPr>
            <a:r>
              <a:rPr kumimoji="1" lang="ja-JP" altLang="en-US" dirty="0"/>
              <a:t>第</a:t>
            </a:r>
            <a:r>
              <a:rPr kumimoji="1" lang="en-US" altLang="ja-JP" dirty="0"/>
              <a:t>9</a:t>
            </a:r>
            <a:r>
              <a:rPr kumimoji="1" lang="ja-JP" altLang="en-US" dirty="0"/>
              <a:t>回  関数と例外処理（オブジェクト、クラス、例外処理）</a:t>
            </a:r>
          </a:p>
          <a:p>
            <a:pPr marL="914400" lvl="1" indent="-457200">
              <a:buFont typeface="+mj-lt"/>
              <a:buAutoNum type="arabicPeriod"/>
            </a:pPr>
            <a:r>
              <a:rPr kumimoji="1" lang="ja-JP" altLang="en-US" dirty="0"/>
              <a:t>第</a:t>
            </a:r>
            <a:r>
              <a:rPr kumimoji="1" lang="en-US" altLang="ja-JP" dirty="0"/>
              <a:t>10</a:t>
            </a:r>
            <a:r>
              <a:rPr kumimoji="1" lang="ja-JP" altLang="en-US" dirty="0"/>
              <a:t>回  </a:t>
            </a:r>
            <a:r>
              <a:rPr kumimoji="1" lang="en-US" altLang="ja-JP" dirty="0"/>
              <a:t>Python</a:t>
            </a:r>
            <a:r>
              <a:rPr kumimoji="1" lang="ja-JP" altLang="en-US" dirty="0"/>
              <a:t>のライブラリ・パッケージ（演算系）</a:t>
            </a:r>
          </a:p>
          <a:p>
            <a:pPr marL="914400" lvl="1" indent="-457200">
              <a:buFont typeface="+mj-lt"/>
              <a:buAutoNum type="arabicPeriod"/>
            </a:pPr>
            <a:r>
              <a:rPr kumimoji="1" lang="ja-JP" altLang="en-US" dirty="0"/>
              <a:t>第</a:t>
            </a:r>
            <a:r>
              <a:rPr kumimoji="1" lang="en-US" altLang="ja-JP" dirty="0"/>
              <a:t>11</a:t>
            </a:r>
            <a:r>
              <a:rPr kumimoji="1" lang="ja-JP" altLang="en-US" dirty="0"/>
              <a:t>回 高階関数と</a:t>
            </a:r>
            <a:r>
              <a:rPr kumimoji="1" lang="en-US" altLang="ja-JP" dirty="0"/>
              <a:t>pandas</a:t>
            </a:r>
            <a:r>
              <a:rPr kumimoji="1" lang="ja-JP" altLang="en-US" dirty="0"/>
              <a:t>ライブラリ</a:t>
            </a:r>
          </a:p>
          <a:p>
            <a:pPr marL="914400" lvl="1" indent="-457200">
              <a:buFont typeface="+mj-lt"/>
              <a:buAutoNum type="arabicPeriod"/>
            </a:pPr>
            <a:r>
              <a:rPr kumimoji="1" lang="ja-JP" altLang="en-US" dirty="0"/>
              <a:t>第</a:t>
            </a:r>
            <a:r>
              <a:rPr kumimoji="1" lang="en-US" altLang="ja-JP" dirty="0"/>
              <a:t>12</a:t>
            </a:r>
            <a:r>
              <a:rPr kumimoji="1" lang="ja-JP" altLang="en-US" dirty="0"/>
              <a:t>回  </a:t>
            </a:r>
            <a:r>
              <a:rPr kumimoji="1" lang="en-US" altLang="ja-JP" dirty="0"/>
              <a:t>Python</a:t>
            </a:r>
            <a:r>
              <a:rPr kumimoji="1" lang="ja-JP" altLang="en-US" dirty="0"/>
              <a:t>のライブラリ・パッケージ（グラフ可視化）</a:t>
            </a:r>
          </a:p>
          <a:p>
            <a:pPr marL="914400" lvl="1" indent="-457200">
              <a:buFont typeface="+mj-lt"/>
              <a:buAutoNum type="arabicPeriod"/>
            </a:pPr>
            <a:r>
              <a:rPr kumimoji="1" lang="ja-JP" altLang="en-US" dirty="0"/>
              <a:t>第</a:t>
            </a:r>
            <a:r>
              <a:rPr kumimoji="1" lang="en-US" altLang="ja-JP" dirty="0"/>
              <a:t>13</a:t>
            </a:r>
            <a:r>
              <a:rPr kumimoji="1" lang="ja-JP" altLang="en-US" dirty="0"/>
              <a:t>回　演習課題</a:t>
            </a:r>
          </a:p>
        </p:txBody>
      </p:sp>
    </p:spTree>
    <p:extLst>
      <p:ext uri="{BB962C8B-B14F-4D97-AF65-F5344CB8AC3E}">
        <p14:creationId xmlns:p14="http://schemas.microsoft.com/office/powerpoint/2010/main" val="606143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AA304-2F45-BE35-3B9D-FE196254F5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D990AE-AF12-0937-1D17-5BE9142E7207}"/>
              </a:ext>
            </a:extLst>
          </p:cNvPr>
          <p:cNvSpPr>
            <a:spLocks noGrp="1"/>
          </p:cNvSpPr>
          <p:nvPr>
            <p:ph type="title"/>
          </p:nvPr>
        </p:nvSpPr>
        <p:spPr/>
        <p:txBody>
          <a:bodyPr/>
          <a:lstStyle/>
          <a:p>
            <a:r>
              <a:rPr kumimoji="1" lang="ja-JP" altLang="en-US" dirty="0"/>
              <a:t>資料配布について</a:t>
            </a:r>
          </a:p>
        </p:txBody>
      </p:sp>
      <p:sp>
        <p:nvSpPr>
          <p:cNvPr id="3" name="コンテンツ プレースホルダー 2">
            <a:extLst>
              <a:ext uri="{FF2B5EF4-FFF2-40B4-BE49-F238E27FC236}">
                <a16:creationId xmlns:a16="http://schemas.microsoft.com/office/drawing/2014/main" id="{46C1E333-5C09-DF34-F127-80628E8CCB32}"/>
              </a:ext>
            </a:extLst>
          </p:cNvPr>
          <p:cNvSpPr>
            <a:spLocks noGrp="1"/>
          </p:cNvSpPr>
          <p:nvPr>
            <p:ph idx="1"/>
          </p:nvPr>
        </p:nvSpPr>
        <p:spPr/>
        <p:txBody>
          <a:bodyPr>
            <a:normAutofit fontScale="92500" lnSpcReduction="20000"/>
          </a:bodyPr>
          <a:lstStyle/>
          <a:p>
            <a:r>
              <a:rPr kumimoji="1" lang="ja-JP" altLang="en-US" dirty="0"/>
              <a:t>スライド資料は３</a:t>
            </a:r>
            <a:r>
              <a:rPr kumimoji="1" lang="en-US" altLang="ja-JP" dirty="0"/>
              <a:t>S</a:t>
            </a:r>
            <a:r>
              <a:rPr kumimoji="1" lang="ja-JP" altLang="en-US" dirty="0"/>
              <a:t>を通じて配布します</a:t>
            </a:r>
            <a:endParaRPr kumimoji="1" lang="en-US" altLang="ja-JP" dirty="0"/>
          </a:p>
          <a:p>
            <a:pPr lvl="1"/>
            <a:r>
              <a:rPr kumimoji="1" lang="ja-JP" altLang="en-US" dirty="0"/>
              <a:t>演習資料は別途お知らせします</a:t>
            </a:r>
          </a:p>
          <a:p>
            <a:endParaRPr kumimoji="1" lang="en-US" altLang="ja-JP" dirty="0"/>
          </a:p>
          <a:p>
            <a:r>
              <a:rPr kumimoji="1" lang="ja-JP" altLang="en-US" dirty="0"/>
              <a:t>本授業では特定の教科書は指定しません</a:t>
            </a:r>
            <a:endParaRPr kumimoji="1" lang="en-US" altLang="ja-JP" dirty="0"/>
          </a:p>
          <a:p>
            <a:endParaRPr kumimoji="1" lang="ja-JP" altLang="en-US" dirty="0"/>
          </a:p>
          <a:p>
            <a:r>
              <a:rPr kumimoji="1" lang="ja-JP" altLang="en-US" dirty="0"/>
              <a:t>必要に応じて、また希望があった場合は、参考書を提示することもありますが、 参考書の購入は必須ではありません</a:t>
            </a:r>
          </a:p>
          <a:p>
            <a:pPr marL="0" indent="0">
              <a:buNone/>
            </a:pPr>
            <a:endParaRPr kumimoji="1" lang="en-US" altLang="ja-JP" dirty="0"/>
          </a:p>
          <a:p>
            <a:r>
              <a:rPr kumimoji="1" lang="en-US" altLang="ja-JP" dirty="0"/>
              <a:t>AI</a:t>
            </a:r>
            <a:r>
              <a:rPr kumimoji="1" lang="ja-JP" altLang="en-US" dirty="0"/>
              <a:t>やツールに関しては、日進月歩なので、書籍を購入するよりも、ウェブサイトや</a:t>
            </a:r>
            <a:r>
              <a:rPr kumimoji="1" lang="en-US" altLang="ja-JP" dirty="0"/>
              <a:t>AI</a:t>
            </a:r>
            <a:r>
              <a:rPr kumimoji="1" lang="ja-JP" altLang="en-US" dirty="0"/>
              <a:t>などで最新情報に基づき学んだ方が良いケースがあります</a:t>
            </a:r>
          </a:p>
        </p:txBody>
      </p:sp>
    </p:spTree>
    <p:extLst>
      <p:ext uri="{BB962C8B-B14F-4D97-AF65-F5344CB8AC3E}">
        <p14:creationId xmlns:p14="http://schemas.microsoft.com/office/powerpoint/2010/main" val="268960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D2077-37EB-61BF-905D-CA1635E28E24}"/>
              </a:ext>
            </a:extLst>
          </p:cNvPr>
          <p:cNvSpPr>
            <a:spLocks noGrp="1"/>
          </p:cNvSpPr>
          <p:nvPr>
            <p:ph type="title"/>
          </p:nvPr>
        </p:nvSpPr>
        <p:spPr/>
        <p:txBody>
          <a:bodyPr/>
          <a:lstStyle/>
          <a:p>
            <a:r>
              <a:rPr lang="ja-JP" altLang="en-US" b="1" dirty="0"/>
              <a:t>授業の進め方</a:t>
            </a:r>
            <a:endParaRPr kumimoji="1" lang="ja-JP" altLang="en-US" dirty="0"/>
          </a:p>
        </p:txBody>
      </p:sp>
      <p:sp>
        <p:nvSpPr>
          <p:cNvPr id="3" name="コンテンツ プレースホルダー 2">
            <a:extLst>
              <a:ext uri="{FF2B5EF4-FFF2-40B4-BE49-F238E27FC236}">
                <a16:creationId xmlns:a16="http://schemas.microsoft.com/office/drawing/2014/main" id="{CD5A9CA6-6602-B634-715A-B12466B31F91}"/>
              </a:ext>
            </a:extLst>
          </p:cNvPr>
          <p:cNvSpPr>
            <a:spLocks noGrp="1"/>
          </p:cNvSpPr>
          <p:nvPr>
            <p:ph idx="1"/>
          </p:nvPr>
        </p:nvSpPr>
        <p:spPr/>
        <p:txBody>
          <a:bodyPr/>
          <a:lstStyle/>
          <a:p>
            <a:r>
              <a:rPr kumimoji="1" lang="ja-JP" altLang="en-US" dirty="0"/>
              <a:t>講義</a:t>
            </a:r>
            <a:r>
              <a:rPr lang="ja-JP" altLang="en-US" dirty="0"/>
              <a:t>形式</a:t>
            </a:r>
            <a:endParaRPr kumimoji="1" lang="ja-JP" altLang="en-US" dirty="0"/>
          </a:p>
          <a:p>
            <a:pPr lvl="1"/>
            <a:r>
              <a:rPr kumimoji="1" lang="ja-JP" altLang="en-US" dirty="0"/>
              <a:t>プログラミング説明</a:t>
            </a:r>
          </a:p>
          <a:p>
            <a:pPr lvl="1"/>
            <a:r>
              <a:rPr kumimoji="1" lang="ja-JP" altLang="en-US" dirty="0"/>
              <a:t>課題説明</a:t>
            </a:r>
            <a:endParaRPr kumimoji="1" lang="en-US" altLang="ja-JP" dirty="0"/>
          </a:p>
          <a:p>
            <a:pPr marL="457200" lvl="1" indent="0">
              <a:buNone/>
            </a:pPr>
            <a:endParaRPr kumimoji="1" lang="ja-JP" altLang="en-US" dirty="0"/>
          </a:p>
          <a:p>
            <a:r>
              <a:rPr lang="ja-JP" altLang="en-US" dirty="0"/>
              <a:t>演習形式</a:t>
            </a:r>
            <a:endParaRPr kumimoji="1" lang="ja-JP" altLang="en-US" dirty="0"/>
          </a:p>
          <a:p>
            <a:pPr lvl="1"/>
            <a:r>
              <a:rPr kumimoji="1" lang="ja-JP" altLang="en-US" dirty="0"/>
              <a:t>自習</a:t>
            </a:r>
            <a:endParaRPr kumimoji="1" lang="en-US" altLang="ja-JP" dirty="0"/>
          </a:p>
          <a:p>
            <a:pPr lvl="1"/>
            <a:r>
              <a:rPr kumimoji="1" lang="ja-JP" altLang="en-US" dirty="0"/>
              <a:t>プログラミング演習</a:t>
            </a:r>
            <a:endParaRPr kumimoji="1" lang="en-US" altLang="ja-JP" dirty="0"/>
          </a:p>
          <a:p>
            <a:pPr lvl="1"/>
            <a:r>
              <a:rPr kumimoji="1" lang="ja-JP" altLang="en-US" dirty="0"/>
              <a:t>課題に取り組む</a:t>
            </a:r>
          </a:p>
          <a:p>
            <a:endParaRPr kumimoji="1" lang="ja-JP" altLang="en-US" dirty="0"/>
          </a:p>
        </p:txBody>
      </p:sp>
    </p:spTree>
    <p:extLst>
      <p:ext uri="{BB962C8B-B14F-4D97-AF65-F5344CB8AC3E}">
        <p14:creationId xmlns:p14="http://schemas.microsoft.com/office/powerpoint/2010/main" val="15610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BB5428-12E5-BDC6-FD4E-C86FAF83F4F8}"/>
              </a:ext>
            </a:extLst>
          </p:cNvPr>
          <p:cNvSpPr>
            <a:spLocks noGrp="1"/>
          </p:cNvSpPr>
          <p:nvPr>
            <p:ph type="title"/>
          </p:nvPr>
        </p:nvSpPr>
        <p:spPr/>
        <p:txBody>
          <a:bodyPr/>
          <a:lstStyle/>
          <a:p>
            <a:r>
              <a:rPr kumimoji="1" lang="ja-JP" altLang="en-US" dirty="0"/>
              <a:t>授業の進め方の補足</a:t>
            </a:r>
          </a:p>
        </p:txBody>
      </p:sp>
      <p:sp>
        <p:nvSpPr>
          <p:cNvPr id="3" name="コンテンツ プレースホルダー 2">
            <a:extLst>
              <a:ext uri="{FF2B5EF4-FFF2-40B4-BE49-F238E27FC236}">
                <a16:creationId xmlns:a16="http://schemas.microsoft.com/office/drawing/2014/main" id="{D329DD35-CC97-60FE-D465-97B8DC4BB2C0}"/>
              </a:ext>
            </a:extLst>
          </p:cNvPr>
          <p:cNvSpPr>
            <a:spLocks noGrp="1"/>
          </p:cNvSpPr>
          <p:nvPr>
            <p:ph idx="1"/>
          </p:nvPr>
        </p:nvSpPr>
        <p:spPr>
          <a:xfrm>
            <a:off x="597194" y="1690688"/>
            <a:ext cx="10907233" cy="5085796"/>
          </a:xfrm>
        </p:spPr>
        <p:txBody>
          <a:bodyPr>
            <a:normAutofit fontScale="85000" lnSpcReduction="20000"/>
          </a:bodyPr>
          <a:lstStyle/>
          <a:p>
            <a:r>
              <a:rPr lang="ja-JP" altLang="en-US" dirty="0"/>
              <a:t>各授業日ごとに簡単なアンケートを提出してください</a:t>
            </a:r>
            <a:endParaRPr lang="en-US" altLang="ja-JP" dirty="0"/>
          </a:p>
          <a:p>
            <a:pPr lvl="1"/>
            <a:r>
              <a:rPr lang="ja-JP" altLang="en-US" dirty="0"/>
              <a:t>アンケート提出で出席とみなします。</a:t>
            </a:r>
            <a:endParaRPr lang="en-US" altLang="ja-JP" dirty="0"/>
          </a:p>
          <a:p>
            <a:pPr lvl="1"/>
            <a:r>
              <a:rPr lang="ja-JP" altLang="en-US" dirty="0"/>
              <a:t>毎日の授業の最後にアンケートをお伝えします。</a:t>
            </a:r>
            <a:endParaRPr lang="en-US" altLang="ja-JP" dirty="0"/>
          </a:p>
          <a:p>
            <a:pPr lvl="1"/>
            <a:r>
              <a:rPr lang="ja-JP" altLang="en-US" dirty="0"/>
              <a:t>やむを得ない事情により締切後の提出となる場合は、必ず事前に講師までご連絡ください。</a:t>
            </a:r>
            <a:endParaRPr lang="en-US" altLang="ja-JP" dirty="0"/>
          </a:p>
          <a:p>
            <a:pPr marL="457200" lvl="1" indent="0">
              <a:buNone/>
            </a:pPr>
            <a:endParaRPr lang="ja-JP" altLang="en-US" dirty="0"/>
          </a:p>
          <a:p>
            <a:r>
              <a:rPr lang="ja-JP" altLang="en-US" dirty="0"/>
              <a:t>授業ではパソコンを使用します</a:t>
            </a:r>
            <a:endParaRPr lang="en-US" altLang="ja-JP" dirty="0"/>
          </a:p>
          <a:p>
            <a:pPr lvl="1"/>
            <a:r>
              <a:rPr lang="ja-JP" altLang="en-US" dirty="0"/>
              <a:t>パソコンをご持参のうえ授業に参加してください。</a:t>
            </a:r>
          </a:p>
          <a:p>
            <a:pPr lvl="1"/>
            <a:r>
              <a:rPr lang="en-US" altLang="ja-JP" dirty="0"/>
              <a:t>iPhone</a:t>
            </a:r>
            <a:r>
              <a:rPr lang="ja-JP" altLang="en-US" dirty="0"/>
              <a:t>や</a:t>
            </a:r>
            <a:r>
              <a:rPr lang="en-US" altLang="ja-JP" dirty="0"/>
              <a:t>iPad</a:t>
            </a:r>
            <a:r>
              <a:rPr lang="ja-JP" altLang="en-US" dirty="0"/>
              <a:t>などのスマートフォン・タブレット端末でも授業への参加は可能です</a:t>
            </a:r>
            <a:endParaRPr lang="en-US" altLang="ja-JP" dirty="0"/>
          </a:p>
          <a:p>
            <a:pPr lvl="2"/>
            <a:r>
              <a:rPr lang="ja-JP" altLang="en-US" dirty="0"/>
              <a:t>ただし、一部の操作が端末によっては行えない場合があります</a:t>
            </a:r>
            <a:endParaRPr lang="en-US" altLang="ja-JP" dirty="0"/>
          </a:p>
          <a:p>
            <a:pPr lvl="2"/>
            <a:r>
              <a:rPr lang="ja-JP" altLang="en-US" dirty="0"/>
              <a:t>その際は、遠慮なく講師までご相談ください</a:t>
            </a:r>
            <a:endParaRPr lang="en-US" altLang="ja-JP" dirty="0"/>
          </a:p>
          <a:p>
            <a:pPr marL="457200" lvl="1" indent="0">
              <a:buNone/>
            </a:pPr>
            <a:endParaRPr lang="ja-JP" altLang="en-US" dirty="0"/>
          </a:p>
          <a:p>
            <a:r>
              <a:rPr lang="ja-JP" altLang="en-US" dirty="0"/>
              <a:t>教室にはパソコン等の電源設備がありません</a:t>
            </a:r>
            <a:endParaRPr lang="en-US" altLang="ja-JP" dirty="0"/>
          </a:p>
          <a:p>
            <a:pPr lvl="1"/>
            <a:r>
              <a:rPr lang="ja-JP" altLang="en-US" dirty="0"/>
              <a:t>演習や課題に取り組む時間は、授業時間内で自習時間として設定します</a:t>
            </a:r>
            <a:endParaRPr lang="en-US" altLang="ja-JP" dirty="0"/>
          </a:p>
          <a:p>
            <a:pPr lvl="1"/>
            <a:r>
              <a:rPr lang="ja-JP" altLang="en-US" dirty="0"/>
              <a:t>自習時間は教室内外を自由に移動して作業してください</a:t>
            </a:r>
            <a:endParaRPr lang="en-US" altLang="ja-JP" dirty="0"/>
          </a:p>
          <a:p>
            <a:pPr lvl="1"/>
            <a:r>
              <a:rPr lang="ja-JP" altLang="en-US" dirty="0"/>
              <a:t>質問があれば教室で対応します</a:t>
            </a:r>
            <a:endParaRPr lang="en-US" altLang="ja-JP" dirty="0"/>
          </a:p>
          <a:p>
            <a:pPr lvl="2"/>
            <a:r>
              <a:rPr lang="ja-JP" altLang="en-US" dirty="0"/>
              <a:t>オンラインのツール利用する予定です</a:t>
            </a:r>
          </a:p>
        </p:txBody>
      </p:sp>
    </p:spTree>
    <p:extLst>
      <p:ext uri="{BB962C8B-B14F-4D97-AF65-F5344CB8AC3E}">
        <p14:creationId xmlns:p14="http://schemas.microsoft.com/office/powerpoint/2010/main" val="1392811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263EAF-2351-BBDA-6239-E88BA69439FD}"/>
              </a:ext>
            </a:extLst>
          </p:cNvPr>
          <p:cNvSpPr>
            <a:spLocks noGrp="1"/>
          </p:cNvSpPr>
          <p:nvPr>
            <p:ph type="title"/>
          </p:nvPr>
        </p:nvSpPr>
        <p:spPr/>
        <p:txBody>
          <a:bodyPr/>
          <a:lstStyle/>
          <a:p>
            <a:r>
              <a:rPr lang="ja-JP" altLang="en-US" b="1" dirty="0"/>
              <a:t>授業で用いるツール</a:t>
            </a:r>
            <a:endParaRPr kumimoji="1" lang="ja-JP" altLang="en-US" dirty="0"/>
          </a:p>
        </p:txBody>
      </p:sp>
      <p:sp>
        <p:nvSpPr>
          <p:cNvPr id="3" name="コンテンツ プレースホルダー 2">
            <a:extLst>
              <a:ext uri="{FF2B5EF4-FFF2-40B4-BE49-F238E27FC236}">
                <a16:creationId xmlns:a16="http://schemas.microsoft.com/office/drawing/2014/main" id="{1DAA02C0-D314-E0CA-4F9F-AB0E875709D6}"/>
              </a:ext>
            </a:extLst>
          </p:cNvPr>
          <p:cNvSpPr>
            <a:spLocks noGrp="1"/>
          </p:cNvSpPr>
          <p:nvPr>
            <p:ph idx="1"/>
          </p:nvPr>
        </p:nvSpPr>
        <p:spPr/>
        <p:txBody>
          <a:bodyPr/>
          <a:lstStyle/>
          <a:p>
            <a:r>
              <a:rPr kumimoji="1" lang="en-US" altLang="ja-JP" dirty="0"/>
              <a:t>Google </a:t>
            </a:r>
            <a:r>
              <a:rPr kumimoji="1" lang="en-US" altLang="ja-JP" dirty="0" err="1"/>
              <a:t>Colaboratory</a:t>
            </a:r>
            <a:r>
              <a:rPr kumimoji="1" lang="en-US" altLang="ja-JP" dirty="0"/>
              <a:t> (https://colab.google/)</a:t>
            </a:r>
          </a:p>
          <a:p>
            <a:pPr lvl="1"/>
            <a:r>
              <a:rPr kumimoji="1" lang="ja-JP" altLang="en-US" dirty="0"/>
              <a:t>ノートブックを開く </a:t>
            </a:r>
            <a:r>
              <a:rPr kumimoji="1" lang="en-US" altLang="ja-JP" dirty="0"/>
              <a:t>(https://colab.research.google.com/)</a:t>
            </a:r>
          </a:p>
          <a:p>
            <a:pPr lvl="1"/>
            <a:r>
              <a:rPr kumimoji="1" lang="ja-JP" altLang="en-US" dirty="0"/>
              <a:t>新規ノートブックを作成 </a:t>
            </a:r>
            <a:r>
              <a:rPr kumimoji="1" lang="en-US" altLang="ja-JP" dirty="0"/>
              <a:t>(https://colab.research.google.com/?authuser=0#create=true)</a:t>
            </a:r>
          </a:p>
          <a:p>
            <a:endParaRPr kumimoji="1" lang="en-US" altLang="ja-JP" dirty="0"/>
          </a:p>
          <a:p>
            <a:r>
              <a:rPr kumimoji="1" lang="en-US" altLang="ja-JP" dirty="0"/>
              <a:t>Google</a:t>
            </a:r>
            <a:r>
              <a:rPr kumimoji="1" lang="ja-JP" altLang="en-US" dirty="0"/>
              <a:t>アカウントが必要</a:t>
            </a:r>
            <a:r>
              <a:rPr lang="ja-JP" altLang="en-US" dirty="0"/>
              <a:t>です</a:t>
            </a:r>
            <a:endParaRPr lang="en-US" altLang="ja-JP" dirty="0"/>
          </a:p>
          <a:p>
            <a:pPr lvl="1"/>
            <a:r>
              <a:rPr kumimoji="1" lang="ja-JP" altLang="en-US" dirty="0"/>
              <a:t>アカウントが無い方は新規登録してください</a:t>
            </a:r>
            <a:endParaRPr lang="en-US" altLang="ja-JP" dirty="0"/>
          </a:p>
          <a:p>
            <a:pPr lvl="1"/>
            <a:r>
              <a:rPr lang="ja-JP" altLang="en-US" dirty="0"/>
              <a:t>アカウントが作成できない方は相談ください</a:t>
            </a:r>
            <a:endParaRPr lang="en-US" altLang="ja-JP" dirty="0"/>
          </a:p>
          <a:p>
            <a:pPr lvl="2"/>
            <a:r>
              <a:rPr lang="en-US" altLang="ja-JP" dirty="0" err="1"/>
              <a:t>Jupyter</a:t>
            </a:r>
            <a:r>
              <a:rPr lang="en-US" altLang="ja-JP" dirty="0"/>
              <a:t> Notebook</a:t>
            </a:r>
            <a:r>
              <a:rPr lang="ja-JP" altLang="en-US" dirty="0"/>
              <a:t>を使ってローカルで環境構築をしてください</a:t>
            </a:r>
            <a:endParaRPr kumimoji="1" lang="en-US" altLang="ja-JP" dirty="0"/>
          </a:p>
          <a:p>
            <a:pPr marL="0" indent="0">
              <a:buNone/>
            </a:pPr>
            <a:endParaRPr kumimoji="1" lang="en-US" altLang="ja-JP" dirty="0"/>
          </a:p>
          <a:p>
            <a:pPr marL="0" indent="0">
              <a:buNone/>
            </a:pPr>
            <a:endParaRPr kumimoji="1" lang="ja-JP" altLang="en-US" dirty="0"/>
          </a:p>
        </p:txBody>
      </p:sp>
    </p:spTree>
    <p:extLst>
      <p:ext uri="{BB962C8B-B14F-4D97-AF65-F5344CB8AC3E}">
        <p14:creationId xmlns:p14="http://schemas.microsoft.com/office/powerpoint/2010/main" val="539913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C35C68-59C0-9293-9832-13DEC0A4DF58}"/>
              </a:ext>
            </a:extLst>
          </p:cNvPr>
          <p:cNvSpPr>
            <a:spLocks noGrp="1"/>
          </p:cNvSpPr>
          <p:nvPr>
            <p:ph type="title"/>
          </p:nvPr>
        </p:nvSpPr>
        <p:spPr/>
        <p:txBody>
          <a:bodyPr/>
          <a:lstStyle/>
          <a:p>
            <a:r>
              <a:rPr lang="ja-JP" altLang="en-US" b="1" dirty="0"/>
              <a:t>評価方法</a:t>
            </a:r>
            <a:endParaRPr kumimoji="1" lang="ja-JP" altLang="en-US" dirty="0"/>
          </a:p>
        </p:txBody>
      </p:sp>
      <p:sp>
        <p:nvSpPr>
          <p:cNvPr id="3" name="コンテンツ プレースホルダー 2">
            <a:extLst>
              <a:ext uri="{FF2B5EF4-FFF2-40B4-BE49-F238E27FC236}">
                <a16:creationId xmlns:a16="http://schemas.microsoft.com/office/drawing/2014/main" id="{30D943AF-BEC7-8F99-9033-B101A6810FA7}"/>
              </a:ext>
            </a:extLst>
          </p:cNvPr>
          <p:cNvSpPr>
            <a:spLocks noGrp="1"/>
          </p:cNvSpPr>
          <p:nvPr>
            <p:ph idx="1"/>
          </p:nvPr>
        </p:nvSpPr>
        <p:spPr/>
        <p:txBody>
          <a:bodyPr>
            <a:normAutofit lnSpcReduction="10000"/>
          </a:bodyPr>
          <a:lstStyle/>
          <a:p>
            <a:r>
              <a:rPr lang="ja-JP" altLang="en-US" dirty="0"/>
              <a:t>授業アンケート（</a:t>
            </a:r>
            <a:r>
              <a:rPr lang="en-US" altLang="ja-JP" dirty="0"/>
              <a:t>10</a:t>
            </a:r>
            <a:r>
              <a:rPr lang="ja-JP" altLang="en-US" dirty="0"/>
              <a:t>％）</a:t>
            </a:r>
          </a:p>
          <a:p>
            <a:pPr lvl="1"/>
            <a:r>
              <a:rPr lang="ja-JP" altLang="en-US" dirty="0"/>
              <a:t>授業日ごとにアンケートを入力してください</a:t>
            </a:r>
          </a:p>
          <a:p>
            <a:pPr lvl="1"/>
            <a:r>
              <a:rPr lang="ja-JP" altLang="en-US" dirty="0"/>
              <a:t>アンケートの提出をもって出席とみなします　</a:t>
            </a:r>
          </a:p>
          <a:p>
            <a:endParaRPr lang="en-US" altLang="ja-JP" dirty="0"/>
          </a:p>
          <a:p>
            <a:r>
              <a:rPr lang="ja-JP" altLang="en-US" dirty="0"/>
              <a:t>授業への取り組み（</a:t>
            </a:r>
            <a:r>
              <a:rPr lang="en-US" altLang="ja-JP" dirty="0"/>
              <a:t>10</a:t>
            </a:r>
            <a:r>
              <a:rPr lang="ja-JP" altLang="en-US" dirty="0"/>
              <a:t>％）</a:t>
            </a:r>
          </a:p>
          <a:p>
            <a:pPr lvl="1"/>
            <a:r>
              <a:rPr lang="ja-JP" altLang="en-US" dirty="0"/>
              <a:t>授業での取り組み状況や参加状況を評価します</a:t>
            </a:r>
          </a:p>
          <a:p>
            <a:endParaRPr lang="en-US" altLang="ja-JP" dirty="0"/>
          </a:p>
          <a:p>
            <a:r>
              <a:rPr lang="ja-JP" altLang="en-US" dirty="0"/>
              <a:t> 最終課題（</a:t>
            </a:r>
            <a:r>
              <a:rPr lang="en-US" altLang="ja-JP" dirty="0"/>
              <a:t>80</a:t>
            </a:r>
            <a:r>
              <a:rPr lang="ja-JP" altLang="en-US" dirty="0"/>
              <a:t>％）</a:t>
            </a:r>
          </a:p>
          <a:p>
            <a:pPr lvl="1"/>
            <a:r>
              <a:rPr lang="ja-JP" altLang="en-US" dirty="0"/>
              <a:t>最終課題を提出していただいて、それを評価します</a:t>
            </a:r>
            <a:br>
              <a:rPr lang="ja-JP" altLang="en-US" dirty="0"/>
            </a:br>
            <a:endParaRPr lang="ja-JP" altLang="en-US" dirty="0"/>
          </a:p>
          <a:p>
            <a:endParaRPr kumimoji="1" lang="ja-JP" altLang="en-US" dirty="0"/>
          </a:p>
        </p:txBody>
      </p:sp>
    </p:spTree>
    <p:extLst>
      <p:ext uri="{BB962C8B-B14F-4D97-AF65-F5344CB8AC3E}">
        <p14:creationId xmlns:p14="http://schemas.microsoft.com/office/powerpoint/2010/main" val="108908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E4BA20-689B-F3E2-173C-36DF5DB0D580}"/>
              </a:ext>
            </a:extLst>
          </p:cNvPr>
          <p:cNvSpPr>
            <a:spLocks noGrp="1"/>
          </p:cNvSpPr>
          <p:nvPr>
            <p:ph type="title"/>
          </p:nvPr>
        </p:nvSpPr>
        <p:spPr/>
        <p:txBody>
          <a:bodyPr/>
          <a:lstStyle/>
          <a:p>
            <a:r>
              <a:rPr lang="ja-JP" altLang="en-US" b="1" dirty="0"/>
              <a:t>講師への質問・連絡</a:t>
            </a:r>
            <a:endParaRPr kumimoji="1" lang="ja-JP" altLang="en-US" dirty="0"/>
          </a:p>
        </p:txBody>
      </p:sp>
      <p:sp>
        <p:nvSpPr>
          <p:cNvPr id="3" name="コンテンツ プレースホルダー 2">
            <a:extLst>
              <a:ext uri="{FF2B5EF4-FFF2-40B4-BE49-F238E27FC236}">
                <a16:creationId xmlns:a16="http://schemas.microsoft.com/office/drawing/2014/main" id="{D758A037-28A9-D616-C287-672342996817}"/>
              </a:ext>
            </a:extLst>
          </p:cNvPr>
          <p:cNvSpPr>
            <a:spLocks noGrp="1"/>
          </p:cNvSpPr>
          <p:nvPr>
            <p:ph idx="1"/>
          </p:nvPr>
        </p:nvSpPr>
        <p:spPr/>
        <p:txBody>
          <a:bodyPr>
            <a:normAutofit/>
          </a:bodyPr>
          <a:lstStyle/>
          <a:p>
            <a:pPr marL="0" indent="0">
              <a:buNone/>
            </a:pPr>
            <a:r>
              <a:rPr lang="ja-JP" altLang="en-US" dirty="0"/>
              <a:t>授業に関して質問があった場合は、あまり悩まずに気軽に講師まで連絡してください。</a:t>
            </a:r>
            <a:endParaRPr lang="en-US" altLang="ja-JP" dirty="0"/>
          </a:p>
          <a:p>
            <a:pPr marL="0" indent="0">
              <a:buNone/>
            </a:pPr>
            <a:r>
              <a:rPr lang="ja-JP" altLang="en-US" dirty="0"/>
              <a:t>また授業の進め方などで意見や感想など特に伝えたいことがあった場合も同様に連絡をしてください。</a:t>
            </a:r>
          </a:p>
          <a:p>
            <a:endParaRPr lang="en-US" altLang="ja-JP" dirty="0"/>
          </a:p>
          <a:p>
            <a:pPr marL="0" indent="0">
              <a:buNone/>
            </a:pPr>
            <a:r>
              <a:rPr lang="ja-JP" altLang="en-US" dirty="0"/>
              <a:t>連絡方法：以下のいずれかで行ってください</a:t>
            </a:r>
            <a:endParaRPr lang="en-US" altLang="ja-JP" dirty="0"/>
          </a:p>
          <a:p>
            <a:pPr marL="0" indent="0">
              <a:buNone/>
            </a:pPr>
            <a:endParaRPr lang="ja-JP" altLang="en-US" dirty="0"/>
          </a:p>
          <a:p>
            <a:r>
              <a:rPr lang="en-US" altLang="ja-JP" dirty="0"/>
              <a:t>3S</a:t>
            </a:r>
            <a:r>
              <a:rPr lang="ja-JP" altLang="en-US" dirty="0"/>
              <a:t>の</a:t>
            </a:r>
            <a:r>
              <a:rPr lang="en-US" altLang="ja-JP" dirty="0"/>
              <a:t>Q</a:t>
            </a:r>
            <a:r>
              <a:rPr lang="ja-JP" altLang="en-US" dirty="0"/>
              <a:t>＆</a:t>
            </a:r>
            <a:r>
              <a:rPr lang="en-US" altLang="ja-JP" dirty="0"/>
              <a:t>A</a:t>
            </a:r>
            <a:r>
              <a:rPr lang="ja-JP" altLang="en-US" dirty="0"/>
              <a:t>への入力</a:t>
            </a:r>
            <a:endParaRPr lang="en-US" altLang="ja-JP" dirty="0"/>
          </a:p>
          <a:p>
            <a:r>
              <a:rPr lang="ja-JP" altLang="en-US" dirty="0"/>
              <a:t>講師へメール</a:t>
            </a:r>
            <a:r>
              <a:rPr lang="en-US" altLang="ja-JP" dirty="0"/>
              <a:t>: </a:t>
            </a:r>
            <a:r>
              <a:rPr lang="en-US" altLang="ja-JP" dirty="0">
                <a:hlinkClick r:id="rId2"/>
              </a:rPr>
              <a:t>op.homata@gmail.com</a:t>
            </a:r>
            <a:endParaRPr lang="ja-JP" altLang="en-US" dirty="0"/>
          </a:p>
          <a:p>
            <a:pPr marL="0" indent="0">
              <a:buNone/>
            </a:pPr>
            <a:endParaRPr kumimoji="1" lang="ja-JP" altLang="en-US" dirty="0"/>
          </a:p>
        </p:txBody>
      </p:sp>
    </p:spTree>
    <p:extLst>
      <p:ext uri="{BB962C8B-B14F-4D97-AF65-F5344CB8AC3E}">
        <p14:creationId xmlns:p14="http://schemas.microsoft.com/office/powerpoint/2010/main" val="741635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8E16BC-383B-FD4B-850D-7FEE686E6951}"/>
              </a:ext>
            </a:extLst>
          </p:cNvPr>
          <p:cNvSpPr>
            <a:spLocks noGrp="1"/>
          </p:cNvSpPr>
          <p:nvPr>
            <p:ph type="title"/>
          </p:nvPr>
        </p:nvSpPr>
        <p:spPr/>
        <p:txBody>
          <a:bodyPr/>
          <a:lstStyle/>
          <a:p>
            <a:r>
              <a:rPr kumimoji="1" lang="en-US" altLang="ja-JP" b="1" dirty="0"/>
              <a:t>Python</a:t>
            </a:r>
            <a:r>
              <a:rPr kumimoji="1" lang="ja-JP" altLang="en-US" b="1" dirty="0"/>
              <a:t>サイト</a:t>
            </a:r>
          </a:p>
        </p:txBody>
      </p:sp>
      <p:sp>
        <p:nvSpPr>
          <p:cNvPr id="3" name="コンテンツ プレースホルダー 2">
            <a:extLst>
              <a:ext uri="{FF2B5EF4-FFF2-40B4-BE49-F238E27FC236}">
                <a16:creationId xmlns:a16="http://schemas.microsoft.com/office/drawing/2014/main" id="{2213F1AB-3FB4-236E-D40C-DB543BC48893}"/>
              </a:ext>
            </a:extLst>
          </p:cNvPr>
          <p:cNvSpPr>
            <a:spLocks noGrp="1"/>
          </p:cNvSpPr>
          <p:nvPr>
            <p:ph idx="1"/>
          </p:nvPr>
        </p:nvSpPr>
        <p:spPr>
          <a:xfrm>
            <a:off x="427073" y="1527913"/>
            <a:ext cx="11141149" cy="4823267"/>
          </a:xfrm>
        </p:spPr>
        <p:txBody>
          <a:bodyPr>
            <a:normAutofit fontScale="92500" lnSpcReduction="10000"/>
          </a:bodyPr>
          <a:lstStyle/>
          <a:p>
            <a:r>
              <a:rPr kumimoji="1" lang="en-US" altLang="ja-JP" b="1" dirty="0" err="1"/>
              <a:t>Pyhon</a:t>
            </a:r>
            <a:r>
              <a:rPr kumimoji="1" lang="en-US" altLang="ja-JP" b="1" dirty="0"/>
              <a:t> (</a:t>
            </a:r>
            <a:r>
              <a:rPr kumimoji="1" lang="ja-JP" altLang="en-US" b="1" dirty="0"/>
              <a:t>公式</a:t>
            </a:r>
            <a:r>
              <a:rPr kumimoji="1" lang="en-US" altLang="ja-JP" b="1" dirty="0"/>
              <a:t>)</a:t>
            </a:r>
          </a:p>
          <a:p>
            <a:pPr lvl="1"/>
            <a:r>
              <a:rPr kumimoji="1" lang="en-US" altLang="ja-JP" dirty="0"/>
              <a:t>URL: </a:t>
            </a:r>
            <a:r>
              <a:rPr kumimoji="1" lang="en-US" altLang="ja-JP" dirty="0">
                <a:hlinkClick r:id="rId2"/>
              </a:rPr>
              <a:t>https://www.python.org/</a:t>
            </a:r>
            <a:endParaRPr kumimoji="1" lang="en-US" altLang="ja-JP" dirty="0"/>
          </a:p>
          <a:p>
            <a:pPr lvl="1"/>
            <a:r>
              <a:rPr kumimoji="1" lang="ja-JP" altLang="en-US" dirty="0"/>
              <a:t>ドキュメント：</a:t>
            </a:r>
            <a:r>
              <a:rPr kumimoji="1" lang="en-US" altLang="ja-JP" dirty="0">
                <a:hlinkClick r:id="rId3"/>
              </a:rPr>
              <a:t>https://www.python.org/doc/</a:t>
            </a:r>
            <a:endParaRPr kumimoji="1" lang="en-US" altLang="ja-JP" dirty="0"/>
          </a:p>
          <a:p>
            <a:pPr lvl="1"/>
            <a:r>
              <a:rPr kumimoji="1" lang="ja-JP" altLang="en-US" dirty="0"/>
              <a:t>マニュアル：</a:t>
            </a:r>
            <a:r>
              <a:rPr kumimoji="1" lang="en-US" altLang="ja-JP" dirty="0">
                <a:hlinkClick r:id="rId4"/>
              </a:rPr>
              <a:t>https://docs.python.org/ja/3/</a:t>
            </a:r>
            <a:endParaRPr kumimoji="1" lang="en-US" altLang="ja-JP" dirty="0"/>
          </a:p>
          <a:p>
            <a:pPr lvl="1"/>
            <a:r>
              <a:rPr lang="en-US" altLang="ja-JP" dirty="0"/>
              <a:t>Python </a:t>
            </a:r>
            <a:r>
              <a:rPr lang="ja-JP" altLang="en-US" dirty="0"/>
              <a:t>標準ライブラリ：</a:t>
            </a:r>
            <a:r>
              <a:rPr lang="en-US" altLang="ja-JP" dirty="0">
                <a:hlinkClick r:id="rId5"/>
              </a:rPr>
              <a:t>https://docs.python.org/ja/3/library/index.html</a:t>
            </a:r>
            <a:endParaRPr lang="en-US" altLang="ja-JP" dirty="0"/>
          </a:p>
          <a:p>
            <a:pPr lvl="1"/>
            <a:r>
              <a:rPr kumimoji="1" lang="en-US" altLang="ja-JP" dirty="0"/>
              <a:t>Python For Beginners: </a:t>
            </a:r>
            <a:r>
              <a:rPr kumimoji="1" lang="en-US" altLang="ja-JP" dirty="0">
                <a:hlinkClick r:id="rId6"/>
              </a:rPr>
              <a:t>https://www.python.org/about/gettingstarted/</a:t>
            </a:r>
            <a:endParaRPr kumimoji="1" lang="en-US" altLang="ja-JP" dirty="0"/>
          </a:p>
          <a:p>
            <a:pPr lvl="1"/>
            <a:r>
              <a:rPr kumimoji="1" lang="ja-JP" altLang="en-US" dirty="0"/>
              <a:t>ダウンロード</a:t>
            </a:r>
            <a:r>
              <a:rPr kumimoji="1" lang="en-US" altLang="ja-JP" dirty="0"/>
              <a:t>: </a:t>
            </a:r>
            <a:r>
              <a:rPr kumimoji="1" lang="en-US" altLang="ja-JP" dirty="0">
                <a:hlinkClick r:id="rId7"/>
              </a:rPr>
              <a:t>https://www.python.org/downloads/</a:t>
            </a:r>
            <a:endParaRPr kumimoji="1" lang="en-US" altLang="ja-JP" dirty="0"/>
          </a:p>
          <a:p>
            <a:pPr lvl="1"/>
            <a:r>
              <a:rPr kumimoji="1" lang="en-US" altLang="ja-JP" dirty="0"/>
              <a:t>Python </a:t>
            </a:r>
            <a:r>
              <a:rPr kumimoji="1" lang="ja-JP" altLang="en-US" dirty="0"/>
              <a:t>チュートリアル</a:t>
            </a:r>
            <a:r>
              <a:rPr kumimoji="1" lang="en-US" altLang="ja-JP" dirty="0"/>
              <a:t>: </a:t>
            </a:r>
            <a:r>
              <a:rPr kumimoji="1" lang="en-US" altLang="ja-JP" dirty="0">
                <a:hlinkClick r:id="rId8"/>
              </a:rPr>
              <a:t>https://docs.python.org/ja/3/tutorial/index.html</a:t>
            </a:r>
            <a:endParaRPr kumimoji="1" lang="en-US" altLang="ja-JP" dirty="0"/>
          </a:p>
          <a:p>
            <a:pPr marL="0" indent="0">
              <a:buNone/>
            </a:pPr>
            <a:endParaRPr kumimoji="1" lang="en-US" altLang="ja-JP" dirty="0"/>
          </a:p>
          <a:p>
            <a:r>
              <a:rPr kumimoji="1" lang="en-US" altLang="ja-JP" b="1" dirty="0"/>
              <a:t>Python Japan (</a:t>
            </a:r>
            <a:r>
              <a:rPr kumimoji="1" lang="ja-JP" altLang="en-US" b="1" dirty="0"/>
              <a:t>日本のコミュニティ</a:t>
            </a:r>
            <a:r>
              <a:rPr kumimoji="1" lang="en-US" altLang="ja-JP" b="1" dirty="0"/>
              <a:t>)</a:t>
            </a:r>
          </a:p>
          <a:p>
            <a:pPr lvl="1"/>
            <a:r>
              <a:rPr kumimoji="1" lang="en-US" altLang="ja-JP" dirty="0"/>
              <a:t>URL: </a:t>
            </a:r>
            <a:r>
              <a:rPr kumimoji="1" lang="en-US" altLang="ja-JP" dirty="0">
                <a:hlinkClick r:id="rId9"/>
              </a:rPr>
              <a:t>https://www.python.jp/</a:t>
            </a:r>
            <a:endParaRPr lang="en-US" altLang="ja-JP" dirty="0"/>
          </a:p>
          <a:p>
            <a:pPr lvl="1"/>
            <a:r>
              <a:rPr kumimoji="1" lang="en-US" altLang="ja-JP" dirty="0"/>
              <a:t>Python</a:t>
            </a:r>
            <a:r>
              <a:rPr kumimoji="1" lang="ja-JP" altLang="en-US" dirty="0"/>
              <a:t>環境構築ガイド</a:t>
            </a:r>
            <a:r>
              <a:rPr kumimoji="1" lang="en-US" altLang="ja-JP" dirty="0"/>
              <a:t>: </a:t>
            </a:r>
            <a:r>
              <a:rPr kumimoji="1" lang="en-US" altLang="ja-JP" dirty="0">
                <a:hlinkClick r:id="rId10"/>
              </a:rPr>
              <a:t>https://www.python.jp/install/install.html</a:t>
            </a:r>
            <a:endParaRPr lang="en-US" altLang="ja-JP" dirty="0"/>
          </a:p>
          <a:p>
            <a:pPr lvl="1"/>
            <a:r>
              <a:rPr kumimoji="1" lang="ja-JP" altLang="en-US" dirty="0"/>
              <a:t>ゼロからの</a:t>
            </a:r>
            <a:r>
              <a:rPr kumimoji="1" lang="en-US" altLang="ja-JP" dirty="0"/>
              <a:t>Python</a:t>
            </a:r>
            <a:r>
              <a:rPr kumimoji="1" lang="ja-JP" altLang="en-US" dirty="0"/>
              <a:t>入門講座</a:t>
            </a:r>
            <a:r>
              <a:rPr kumimoji="1" lang="en-US" altLang="ja-JP" dirty="0"/>
              <a:t>: </a:t>
            </a:r>
            <a:r>
              <a:rPr kumimoji="1" lang="en-US" altLang="ja-JP" dirty="0">
                <a:hlinkClick r:id="rId11"/>
              </a:rPr>
              <a:t>https://www.python.jp/train/index.html</a:t>
            </a:r>
            <a:endParaRPr kumimoji="1" lang="en-US" altLang="ja-JP" dirty="0"/>
          </a:p>
        </p:txBody>
      </p:sp>
    </p:spTree>
    <p:extLst>
      <p:ext uri="{BB962C8B-B14F-4D97-AF65-F5344CB8AC3E}">
        <p14:creationId xmlns:p14="http://schemas.microsoft.com/office/powerpoint/2010/main" val="1949493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05667E-0A5F-8CDC-8A50-5210ADC2DF07}"/>
              </a:ext>
            </a:extLst>
          </p:cNvPr>
          <p:cNvSpPr>
            <a:spLocks noGrp="1"/>
          </p:cNvSpPr>
          <p:nvPr>
            <p:ph type="title"/>
          </p:nvPr>
        </p:nvSpPr>
        <p:spPr/>
        <p:txBody>
          <a:bodyPr/>
          <a:lstStyle/>
          <a:p>
            <a:r>
              <a:rPr lang="ja-JP" altLang="en-US" b="1" dirty="0"/>
              <a:t>その他のツール　</a:t>
            </a:r>
            <a:r>
              <a:rPr lang="en-US" altLang="ja-JP" b="1" dirty="0"/>
              <a:t>(1/3)</a:t>
            </a:r>
            <a:endParaRPr kumimoji="1" lang="ja-JP" altLang="en-US" dirty="0"/>
          </a:p>
        </p:txBody>
      </p:sp>
      <p:sp>
        <p:nvSpPr>
          <p:cNvPr id="3" name="コンテンツ プレースホルダー 2">
            <a:extLst>
              <a:ext uri="{FF2B5EF4-FFF2-40B4-BE49-F238E27FC236}">
                <a16:creationId xmlns:a16="http://schemas.microsoft.com/office/drawing/2014/main" id="{B0654815-4DCF-8311-ED45-A07A46AC835E}"/>
              </a:ext>
            </a:extLst>
          </p:cNvPr>
          <p:cNvSpPr>
            <a:spLocks noGrp="1"/>
          </p:cNvSpPr>
          <p:nvPr>
            <p:ph idx="1"/>
          </p:nvPr>
        </p:nvSpPr>
        <p:spPr>
          <a:xfrm>
            <a:off x="689343" y="1542089"/>
            <a:ext cx="10956851" cy="5071361"/>
          </a:xfrm>
        </p:spPr>
        <p:txBody>
          <a:bodyPr>
            <a:normAutofit fontScale="85000" lnSpcReduction="20000"/>
          </a:bodyPr>
          <a:lstStyle/>
          <a:p>
            <a:r>
              <a:rPr lang="en-US" altLang="ja-JP" b="1" dirty="0"/>
              <a:t>Visual Studio Code (VS Code)</a:t>
            </a:r>
          </a:p>
          <a:p>
            <a:pPr lvl="1"/>
            <a:r>
              <a:rPr lang="en-US" altLang="ja-JP" dirty="0"/>
              <a:t>Visual Studio Code (VS Code) </a:t>
            </a:r>
            <a:r>
              <a:rPr lang="ja-JP" altLang="en-US" dirty="0"/>
              <a:t>は、</a:t>
            </a:r>
            <a:r>
              <a:rPr lang="en-US" altLang="ja-JP" dirty="0"/>
              <a:t>Microsoft</a:t>
            </a:r>
            <a:r>
              <a:rPr lang="ja-JP" altLang="en-US" dirty="0"/>
              <a:t>が開発した無料で利用できるコードエディターです。</a:t>
            </a:r>
          </a:p>
          <a:p>
            <a:pPr lvl="1"/>
            <a:r>
              <a:rPr lang="ja-JP" altLang="en-US" dirty="0"/>
              <a:t>拡張機能が豊富で、カスタマイズ性が高く、開発現場で広く利用されています。</a:t>
            </a:r>
          </a:p>
          <a:p>
            <a:pPr lvl="1"/>
            <a:r>
              <a:rPr lang="en-US" altLang="ja-JP" dirty="0"/>
              <a:t>URL: </a:t>
            </a:r>
            <a:r>
              <a:rPr lang="en-US" altLang="ja-JP" dirty="0">
                <a:hlinkClick r:id="rId2"/>
              </a:rPr>
              <a:t>https://azure.microsoft.com/ja-jp/products/visual-studio-code</a:t>
            </a:r>
            <a:endParaRPr lang="en-US" altLang="ja-JP" dirty="0"/>
          </a:p>
          <a:p>
            <a:pPr lvl="1"/>
            <a:endParaRPr lang="en-US" altLang="ja-JP" dirty="0"/>
          </a:p>
          <a:p>
            <a:r>
              <a:rPr lang="en-US" altLang="ja-JP" b="1" dirty="0" err="1"/>
              <a:t>Jupyter</a:t>
            </a:r>
            <a:r>
              <a:rPr lang="en-US" altLang="ja-JP" b="1" dirty="0"/>
              <a:t> Notebook</a:t>
            </a:r>
          </a:p>
          <a:p>
            <a:pPr lvl="1"/>
            <a:r>
              <a:rPr lang="en-US" altLang="ja-JP" dirty="0"/>
              <a:t>Web</a:t>
            </a:r>
            <a:r>
              <a:rPr lang="ja-JP" altLang="en-US" dirty="0"/>
              <a:t>ブラウザ上で</a:t>
            </a:r>
            <a:r>
              <a:rPr lang="en-US" altLang="ja-JP" dirty="0"/>
              <a:t>Python</a:t>
            </a:r>
            <a:r>
              <a:rPr lang="ja-JP" altLang="en-US" dirty="0"/>
              <a:t>などのコードを実行できるインタラクティブな環境を提供するオープンソースのツールです。</a:t>
            </a:r>
          </a:p>
          <a:p>
            <a:pPr lvl="1"/>
            <a:r>
              <a:rPr lang="ja-JP" altLang="en-US" dirty="0"/>
              <a:t>データ分析や機械学習の分野で広く利用され、コード、実行結果、メモなどをまとめて記述・管理できるのが特徴です。</a:t>
            </a:r>
          </a:p>
          <a:p>
            <a:pPr lvl="1"/>
            <a:r>
              <a:rPr lang="en-US" altLang="ja-JP" dirty="0"/>
              <a:t>Google </a:t>
            </a:r>
            <a:r>
              <a:rPr lang="en-US" altLang="ja-JP" dirty="0" err="1"/>
              <a:t>Colab</a:t>
            </a:r>
            <a:r>
              <a:rPr lang="ja-JP" altLang="en-US" dirty="0"/>
              <a:t>は、</a:t>
            </a:r>
            <a:r>
              <a:rPr lang="en-US" altLang="ja-JP" dirty="0"/>
              <a:t>Google Drive</a:t>
            </a:r>
            <a:r>
              <a:rPr lang="ja-JP" altLang="en-US" dirty="0"/>
              <a:t>と連携した、</a:t>
            </a:r>
            <a:r>
              <a:rPr lang="en-US" altLang="ja-JP" dirty="0" err="1"/>
              <a:t>Jupyter</a:t>
            </a:r>
            <a:r>
              <a:rPr lang="en-US" altLang="ja-JP" dirty="0"/>
              <a:t> Notebook</a:t>
            </a:r>
            <a:r>
              <a:rPr lang="ja-JP" altLang="en-US" dirty="0"/>
              <a:t>をベースにした開発環境です。名前の通り</a:t>
            </a:r>
            <a:r>
              <a:rPr lang="en-US" altLang="ja-JP" dirty="0"/>
              <a:t>Google</a:t>
            </a:r>
            <a:r>
              <a:rPr lang="ja-JP" altLang="en-US" dirty="0"/>
              <a:t>が提供しているクラウドサービスです．</a:t>
            </a:r>
          </a:p>
          <a:p>
            <a:pPr lvl="1"/>
            <a:r>
              <a:rPr lang="en-US" altLang="ja-JP" dirty="0" err="1"/>
              <a:t>Jupyter</a:t>
            </a:r>
            <a:r>
              <a:rPr lang="en-US" altLang="ja-JP" dirty="0"/>
              <a:t> Notebook</a:t>
            </a:r>
            <a:r>
              <a:rPr lang="ja-JP" altLang="en-US" dirty="0"/>
              <a:t>はパソコン等に設定して実行する対話型実行環境です。</a:t>
            </a:r>
          </a:p>
          <a:p>
            <a:pPr lvl="1"/>
            <a:r>
              <a:rPr lang="en-US" altLang="ja-JP" dirty="0" err="1"/>
              <a:t>JupyterLab</a:t>
            </a:r>
            <a:r>
              <a:rPr lang="ja-JP" altLang="en-US" dirty="0"/>
              <a:t>は、</a:t>
            </a:r>
            <a:r>
              <a:rPr lang="en-US" altLang="ja-JP" dirty="0" err="1"/>
              <a:t>Jupyter</a:t>
            </a:r>
            <a:r>
              <a:rPr lang="en-US" altLang="ja-JP" dirty="0"/>
              <a:t> Notebook</a:t>
            </a:r>
            <a:r>
              <a:rPr lang="ja-JP" altLang="en-US" dirty="0"/>
              <a:t>の後継となる統合開発環境です。従来の</a:t>
            </a:r>
            <a:r>
              <a:rPr lang="en-US" altLang="ja-JP" dirty="0"/>
              <a:t>Notebook</a:t>
            </a:r>
            <a:r>
              <a:rPr lang="ja-JP" altLang="en-US" dirty="0"/>
              <a:t>で行えたことはすべて</a:t>
            </a:r>
            <a:r>
              <a:rPr lang="en-US" altLang="ja-JP" dirty="0" err="1"/>
              <a:t>JupyterLab</a:t>
            </a:r>
            <a:r>
              <a:rPr lang="ja-JP" altLang="en-US" dirty="0"/>
              <a:t>でも可能であり、さらに多くの機能が拡張されています</a:t>
            </a:r>
          </a:p>
          <a:p>
            <a:pPr lvl="1"/>
            <a:r>
              <a:rPr lang="en-US" altLang="ja-JP" dirty="0"/>
              <a:t>URL: </a:t>
            </a:r>
            <a:r>
              <a:rPr lang="en-US" altLang="ja-JP" dirty="0">
                <a:hlinkClick r:id="rId3"/>
              </a:rPr>
              <a:t>https://jupyter.org/</a:t>
            </a:r>
            <a:endParaRPr lang="en-US" altLang="ja-JP" dirty="0"/>
          </a:p>
          <a:p>
            <a:pPr lvl="1"/>
            <a:endParaRPr lang="en-US" altLang="ja-JP" dirty="0"/>
          </a:p>
        </p:txBody>
      </p:sp>
    </p:spTree>
    <p:extLst>
      <p:ext uri="{BB962C8B-B14F-4D97-AF65-F5344CB8AC3E}">
        <p14:creationId xmlns:p14="http://schemas.microsoft.com/office/powerpoint/2010/main" val="2007490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13FA-77C0-AE0E-7EEF-B2561031DD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1AF73C-AAD6-63E1-64FA-85EEDA4B649B}"/>
              </a:ext>
            </a:extLst>
          </p:cNvPr>
          <p:cNvSpPr>
            <a:spLocks noGrp="1"/>
          </p:cNvSpPr>
          <p:nvPr>
            <p:ph type="title"/>
          </p:nvPr>
        </p:nvSpPr>
        <p:spPr/>
        <p:txBody>
          <a:bodyPr/>
          <a:lstStyle/>
          <a:p>
            <a:r>
              <a:rPr lang="ja-JP" altLang="en-US" b="1" dirty="0"/>
              <a:t>その他のツール </a:t>
            </a:r>
            <a:r>
              <a:rPr lang="en-US" altLang="ja-JP" b="1" dirty="0"/>
              <a:t>(2/3)</a:t>
            </a:r>
            <a:endParaRPr kumimoji="1" lang="ja-JP" altLang="en-US" dirty="0"/>
          </a:p>
        </p:txBody>
      </p:sp>
      <p:sp>
        <p:nvSpPr>
          <p:cNvPr id="3" name="コンテンツ プレースホルダー 2">
            <a:extLst>
              <a:ext uri="{FF2B5EF4-FFF2-40B4-BE49-F238E27FC236}">
                <a16:creationId xmlns:a16="http://schemas.microsoft.com/office/drawing/2014/main" id="{1DE41A4A-5A02-638F-5F3A-8877F468A8AD}"/>
              </a:ext>
            </a:extLst>
          </p:cNvPr>
          <p:cNvSpPr>
            <a:spLocks noGrp="1"/>
          </p:cNvSpPr>
          <p:nvPr>
            <p:ph idx="1"/>
          </p:nvPr>
        </p:nvSpPr>
        <p:spPr/>
        <p:txBody>
          <a:bodyPr>
            <a:normAutofit/>
          </a:bodyPr>
          <a:lstStyle/>
          <a:p>
            <a:r>
              <a:rPr lang="en-US" altLang="ja-JP" b="1" dirty="0"/>
              <a:t>Anaconda (</a:t>
            </a:r>
            <a:r>
              <a:rPr lang="ja-JP" altLang="en-US" b="1" dirty="0"/>
              <a:t>アナコンダ</a:t>
            </a:r>
            <a:r>
              <a:rPr lang="en-US" altLang="ja-JP" b="1" dirty="0"/>
              <a:t>)</a:t>
            </a:r>
          </a:p>
          <a:p>
            <a:pPr lvl="1"/>
            <a:r>
              <a:rPr lang="ja-JP" altLang="en-US" dirty="0"/>
              <a:t>初心者でも簡単に</a:t>
            </a:r>
            <a:r>
              <a:rPr lang="en-US" altLang="ja-JP" dirty="0"/>
              <a:t>Python</a:t>
            </a:r>
            <a:r>
              <a:rPr lang="ja-JP" altLang="en-US" dirty="0"/>
              <a:t>の開発環境をインストーラーを実行するだけで構築可能です。</a:t>
            </a:r>
          </a:p>
          <a:p>
            <a:pPr lvl="1"/>
            <a:r>
              <a:rPr lang="ja-JP" altLang="en-US" dirty="0"/>
              <a:t>データサイエンスや機械学習に関する作業をパソコンで行うための開発環境です。</a:t>
            </a:r>
          </a:p>
          <a:p>
            <a:pPr lvl="1"/>
            <a:r>
              <a:rPr lang="en-US" altLang="ja-JP" dirty="0"/>
              <a:t>Python</a:t>
            </a:r>
            <a:r>
              <a:rPr lang="ja-JP" altLang="en-US" dirty="0"/>
              <a:t>言語を用いたデータ分析やモデリング、可視化などのタスクを簡単に実行できるように設計されています。</a:t>
            </a:r>
          </a:p>
          <a:p>
            <a:pPr lvl="1"/>
            <a:r>
              <a:rPr lang="en-US" altLang="ja-JP" dirty="0"/>
              <a:t>Python</a:t>
            </a:r>
            <a:r>
              <a:rPr lang="ja-JP" altLang="en-US" dirty="0"/>
              <a:t>と</a:t>
            </a:r>
            <a:r>
              <a:rPr lang="en-US" altLang="ja-JP" dirty="0"/>
              <a:t>R</a:t>
            </a:r>
            <a:r>
              <a:rPr lang="ja-JP" altLang="en-US" dirty="0"/>
              <a:t>言語の両方が実行可能です。</a:t>
            </a:r>
          </a:p>
          <a:p>
            <a:pPr lvl="1"/>
            <a:r>
              <a:rPr lang="ja-JP" altLang="en-US" dirty="0"/>
              <a:t>従業員数</a:t>
            </a:r>
            <a:r>
              <a:rPr lang="en-US" altLang="ja-JP" dirty="0"/>
              <a:t>200</a:t>
            </a:r>
            <a:r>
              <a:rPr lang="ja-JP" altLang="en-US" dirty="0"/>
              <a:t>名以上の営利企業では、</a:t>
            </a:r>
            <a:r>
              <a:rPr lang="en-US" altLang="ja-JP" dirty="0"/>
              <a:t>Anaconda</a:t>
            </a:r>
            <a:r>
              <a:rPr lang="ja-JP" altLang="en-US" dirty="0"/>
              <a:t>の利用は有料です</a:t>
            </a:r>
          </a:p>
          <a:p>
            <a:pPr lvl="1"/>
            <a:r>
              <a:rPr lang="en-US" altLang="ja-JP" dirty="0"/>
              <a:t>URL: </a:t>
            </a:r>
            <a:r>
              <a:rPr lang="en-US" altLang="ja-JP" dirty="0">
                <a:hlinkClick r:id="rId2"/>
              </a:rPr>
              <a:t>https://www.anaconda.com/</a:t>
            </a:r>
            <a:endParaRPr lang="en-US" altLang="ja-JP" dirty="0"/>
          </a:p>
        </p:txBody>
      </p:sp>
    </p:spTree>
    <p:extLst>
      <p:ext uri="{BB962C8B-B14F-4D97-AF65-F5344CB8AC3E}">
        <p14:creationId xmlns:p14="http://schemas.microsoft.com/office/powerpoint/2010/main" val="3247452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0632F-2656-05EC-13AD-7A3BA9D429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758EDB6-612B-357C-14E4-61630F845C69}"/>
              </a:ext>
            </a:extLst>
          </p:cNvPr>
          <p:cNvSpPr>
            <a:spLocks noGrp="1"/>
          </p:cNvSpPr>
          <p:nvPr>
            <p:ph type="title"/>
          </p:nvPr>
        </p:nvSpPr>
        <p:spPr/>
        <p:txBody>
          <a:bodyPr/>
          <a:lstStyle/>
          <a:p>
            <a:r>
              <a:rPr lang="ja-JP" altLang="en-US" b="1" dirty="0"/>
              <a:t>その他のツール </a:t>
            </a:r>
            <a:r>
              <a:rPr lang="en-US" altLang="ja-JP" b="1" dirty="0"/>
              <a:t>(3/3)</a:t>
            </a:r>
            <a:endParaRPr kumimoji="1" lang="ja-JP" altLang="en-US" dirty="0"/>
          </a:p>
        </p:txBody>
      </p:sp>
      <p:sp>
        <p:nvSpPr>
          <p:cNvPr id="3" name="コンテンツ プレースホルダー 2">
            <a:extLst>
              <a:ext uri="{FF2B5EF4-FFF2-40B4-BE49-F238E27FC236}">
                <a16:creationId xmlns:a16="http://schemas.microsoft.com/office/drawing/2014/main" id="{787DC5A4-92AE-0981-C1AE-7451FAA156EB}"/>
              </a:ext>
            </a:extLst>
          </p:cNvPr>
          <p:cNvSpPr>
            <a:spLocks noGrp="1"/>
          </p:cNvSpPr>
          <p:nvPr>
            <p:ph idx="1"/>
          </p:nvPr>
        </p:nvSpPr>
        <p:spPr>
          <a:xfrm>
            <a:off x="292395" y="1428417"/>
            <a:ext cx="11715307" cy="5266549"/>
          </a:xfrm>
        </p:spPr>
        <p:txBody>
          <a:bodyPr>
            <a:normAutofit fontScale="92500" lnSpcReduction="20000"/>
          </a:bodyPr>
          <a:lstStyle/>
          <a:p>
            <a:r>
              <a:rPr lang="en-US" altLang="ja-JP" b="1" dirty="0"/>
              <a:t>GitHub</a:t>
            </a:r>
          </a:p>
          <a:p>
            <a:pPr lvl="1"/>
            <a:r>
              <a:rPr lang="ja-JP" altLang="en-US" dirty="0"/>
              <a:t>公式サイト</a:t>
            </a:r>
            <a:r>
              <a:rPr lang="en-US" altLang="ja-JP" dirty="0"/>
              <a:t>: </a:t>
            </a:r>
            <a:r>
              <a:rPr lang="en-US" altLang="ja-JP" dirty="0">
                <a:hlinkClick r:id="rId2"/>
              </a:rPr>
              <a:t>https://github.com/</a:t>
            </a:r>
            <a:endParaRPr lang="en-US" altLang="ja-JP" dirty="0"/>
          </a:p>
          <a:p>
            <a:pPr lvl="1"/>
            <a:r>
              <a:rPr lang="ja-JP" altLang="en-US" dirty="0"/>
              <a:t>ソフトウェア開発者がコードを共有・管理・共同開発するための開発者のためのプラットフォーム</a:t>
            </a:r>
          </a:p>
          <a:p>
            <a:pPr lvl="1"/>
            <a:r>
              <a:rPr lang="ja-JP" altLang="en-US" dirty="0"/>
              <a:t>運営会社：</a:t>
            </a:r>
            <a:r>
              <a:rPr lang="en-US" altLang="ja-JP" dirty="0"/>
              <a:t>GitHub, Inc.</a:t>
            </a:r>
            <a:r>
              <a:rPr lang="ja-JP" altLang="en-US" dirty="0"/>
              <a:t>（現在は</a:t>
            </a:r>
            <a:r>
              <a:rPr lang="en-US" altLang="ja-JP" dirty="0"/>
              <a:t>Microsoft</a:t>
            </a:r>
            <a:r>
              <a:rPr lang="ja-JP" altLang="en-US" dirty="0"/>
              <a:t>の子会社）</a:t>
            </a:r>
          </a:p>
          <a:p>
            <a:pPr lvl="1"/>
            <a:r>
              <a:rPr lang="ja-JP" altLang="en-US" dirty="0"/>
              <a:t>プログラムコードのバージョン管理</a:t>
            </a:r>
          </a:p>
          <a:p>
            <a:pPr lvl="1"/>
            <a:r>
              <a:rPr lang="ja-JP" altLang="en-US" dirty="0"/>
              <a:t>複数人での共同開発（コラボレーション）</a:t>
            </a:r>
          </a:p>
          <a:p>
            <a:endParaRPr lang="en-US" altLang="ja-JP" b="1" dirty="0"/>
          </a:p>
          <a:p>
            <a:r>
              <a:rPr lang="en-US" altLang="ja-JP" b="1" dirty="0"/>
              <a:t>PyCharm</a:t>
            </a:r>
          </a:p>
          <a:p>
            <a:pPr lvl="1"/>
            <a:r>
              <a:rPr lang="ja-JP" altLang="en-US" dirty="0"/>
              <a:t>公式サイト：</a:t>
            </a:r>
            <a:r>
              <a:rPr lang="en-US" altLang="ja-JP" dirty="0">
                <a:hlinkClick r:id="rId3"/>
              </a:rPr>
              <a:t>https://www.jetbrains.com/pycharm/</a:t>
            </a:r>
            <a:endParaRPr lang="en-US" altLang="ja-JP" dirty="0"/>
          </a:p>
          <a:p>
            <a:pPr lvl="1"/>
            <a:r>
              <a:rPr lang="en-US" altLang="ja-JP" dirty="0"/>
              <a:t>Python</a:t>
            </a:r>
            <a:r>
              <a:rPr lang="ja-JP" altLang="en-US" dirty="0"/>
              <a:t>の統合開発環境（</a:t>
            </a:r>
            <a:r>
              <a:rPr lang="en-US" altLang="ja-JP" dirty="0"/>
              <a:t>IDE</a:t>
            </a:r>
            <a:r>
              <a:rPr lang="ja-JP" altLang="en-US" dirty="0"/>
              <a:t>）で、</a:t>
            </a:r>
            <a:r>
              <a:rPr lang="en-US" altLang="ja-JP" dirty="0"/>
              <a:t>JetBrains</a:t>
            </a:r>
            <a:r>
              <a:rPr lang="ja-JP" altLang="en-US" dirty="0"/>
              <a:t>社が開発・提供</a:t>
            </a:r>
          </a:p>
          <a:p>
            <a:pPr lvl="1"/>
            <a:r>
              <a:rPr lang="en-US" altLang="ja-JP"/>
              <a:t>PyCharm </a:t>
            </a:r>
            <a:r>
              <a:rPr lang="en-US" altLang="ja-JP" dirty="0"/>
              <a:t>2025.1 </a:t>
            </a:r>
            <a:r>
              <a:rPr lang="ja-JP" altLang="en-US" dirty="0"/>
              <a:t>から、</a:t>
            </a:r>
            <a:r>
              <a:rPr lang="en-US" altLang="ja-JP" dirty="0"/>
              <a:t>PyCharm Community </a:t>
            </a:r>
            <a:r>
              <a:rPr lang="ja-JP" altLang="en-US" dirty="0"/>
              <a:t>と </a:t>
            </a:r>
            <a:r>
              <a:rPr lang="en-US" altLang="ja-JP" dirty="0"/>
              <a:t>Professional </a:t>
            </a:r>
            <a:r>
              <a:rPr lang="ja-JP" altLang="en-US" dirty="0"/>
              <a:t>は統合されて単一の製品で提供</a:t>
            </a:r>
          </a:p>
          <a:p>
            <a:pPr lvl="2"/>
            <a:r>
              <a:rPr lang="en-US" altLang="ja-JP" dirty="0"/>
              <a:t>Community</a:t>
            </a:r>
            <a:r>
              <a:rPr lang="ja-JP" altLang="en-US" dirty="0"/>
              <a:t>（無料</a:t>
            </a:r>
            <a:r>
              <a:rPr lang="en-US" altLang="ja-JP" dirty="0"/>
              <a:t>: </a:t>
            </a:r>
            <a:r>
              <a:rPr lang="ja-JP" altLang="en-US" dirty="0"/>
              <a:t>基本的な</a:t>
            </a:r>
            <a:r>
              <a:rPr lang="en-US" altLang="ja-JP" dirty="0"/>
              <a:t>Python</a:t>
            </a:r>
            <a:r>
              <a:rPr lang="ja-JP" altLang="en-US" dirty="0"/>
              <a:t>開発に対応</a:t>
            </a:r>
          </a:p>
          <a:p>
            <a:pPr lvl="2"/>
            <a:r>
              <a:rPr lang="en-US" altLang="ja-JP" dirty="0"/>
              <a:t>Professional</a:t>
            </a:r>
            <a:r>
              <a:rPr lang="ja-JP" altLang="en-US" dirty="0"/>
              <a:t>（有料）</a:t>
            </a:r>
            <a:r>
              <a:rPr lang="en-US" altLang="ja-JP" dirty="0"/>
              <a:t>: Web</a:t>
            </a:r>
            <a:r>
              <a:rPr lang="ja-JP" altLang="en-US" dirty="0"/>
              <a:t>開発（</a:t>
            </a:r>
            <a:r>
              <a:rPr lang="en-US" altLang="ja-JP" dirty="0"/>
              <a:t>Django, Flask</a:t>
            </a:r>
            <a:r>
              <a:rPr lang="ja-JP" altLang="en-US" dirty="0"/>
              <a:t>）、データサイエンス、リモート開発などに対応（学生・教員は無料ライセンスあり）</a:t>
            </a:r>
            <a:endParaRPr lang="en-US" altLang="ja-JP" dirty="0"/>
          </a:p>
          <a:p>
            <a:pPr marL="0" indent="0">
              <a:buNone/>
            </a:pPr>
            <a:endParaRPr lang="en-US" altLang="ja-JP" dirty="0"/>
          </a:p>
        </p:txBody>
      </p:sp>
    </p:spTree>
    <p:extLst>
      <p:ext uri="{BB962C8B-B14F-4D97-AF65-F5344CB8AC3E}">
        <p14:creationId xmlns:p14="http://schemas.microsoft.com/office/powerpoint/2010/main" val="3438103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AC1B4153-4AEE-1146-BD0A-9B2D69DCC555}"/>
              </a:ext>
            </a:extLst>
          </p:cNvPr>
          <p:cNvSpPr>
            <a:spLocks noGrp="1"/>
          </p:cNvSpPr>
          <p:nvPr>
            <p:ph type="ctrTitle"/>
          </p:nvPr>
        </p:nvSpPr>
        <p:spPr/>
        <p:txBody>
          <a:bodyPr/>
          <a:lstStyle/>
          <a:p>
            <a:r>
              <a:rPr lang="ja-JP" altLang="en-US" dirty="0"/>
              <a:t>イントロ</a:t>
            </a:r>
          </a:p>
        </p:txBody>
      </p:sp>
      <p:sp>
        <p:nvSpPr>
          <p:cNvPr id="4" name="字幕 3">
            <a:extLst>
              <a:ext uri="{FF2B5EF4-FFF2-40B4-BE49-F238E27FC236}">
                <a16:creationId xmlns:a16="http://schemas.microsoft.com/office/drawing/2014/main" id="{F3302861-2D57-0756-01BF-35F9FCC5F14C}"/>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2253570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テキスト&#10;&#10;AI 生成コンテンツは誤りを含む可能性があります。">
            <a:extLst>
              <a:ext uri="{FF2B5EF4-FFF2-40B4-BE49-F238E27FC236}">
                <a16:creationId xmlns:a16="http://schemas.microsoft.com/office/drawing/2014/main" id="{BAC78F7E-4D33-4126-1E75-992BE45E6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681" y="1554245"/>
            <a:ext cx="7353019" cy="5003210"/>
          </a:xfrm>
          <a:prstGeom prst="rect">
            <a:avLst/>
          </a:prstGeom>
        </p:spPr>
      </p:pic>
      <p:sp>
        <p:nvSpPr>
          <p:cNvPr id="2" name="タイトル 1">
            <a:extLst>
              <a:ext uri="{FF2B5EF4-FFF2-40B4-BE49-F238E27FC236}">
                <a16:creationId xmlns:a16="http://schemas.microsoft.com/office/drawing/2014/main" id="{90BD58A0-24E1-5B4A-7AB1-A20B27B3232A}"/>
              </a:ext>
            </a:extLst>
          </p:cNvPr>
          <p:cNvSpPr>
            <a:spLocks noGrp="1"/>
          </p:cNvSpPr>
          <p:nvPr>
            <p:ph type="title"/>
          </p:nvPr>
        </p:nvSpPr>
        <p:spPr>
          <a:xfrm>
            <a:off x="838200" y="228682"/>
            <a:ext cx="10515600" cy="1325563"/>
          </a:xfrm>
        </p:spPr>
        <p:txBody>
          <a:bodyPr>
            <a:normAutofit/>
          </a:bodyPr>
          <a:lstStyle/>
          <a:p>
            <a:r>
              <a:rPr kumimoji="1" lang="ja-JP" altLang="en-US" dirty="0"/>
              <a:t>いまはもう，こんな時代</a:t>
            </a:r>
            <a:r>
              <a:rPr lang="ja-JP" altLang="en-US" dirty="0"/>
              <a:t>：</a:t>
            </a:r>
            <a:br>
              <a:rPr lang="en-US" altLang="ja-JP" dirty="0"/>
            </a:br>
            <a:r>
              <a:rPr lang="ja-JP" altLang="en-US" dirty="0"/>
              <a:t>　</a:t>
            </a:r>
            <a:r>
              <a:rPr lang="en-US" altLang="ja-JP" dirty="0"/>
              <a:t>AI</a:t>
            </a:r>
            <a:r>
              <a:rPr lang="ja-JP" altLang="en-US" dirty="0"/>
              <a:t>で思い通りに計算機を操れる</a:t>
            </a:r>
            <a:endParaRPr kumimoji="1" lang="ja-JP" altLang="en-US" dirty="0"/>
          </a:p>
        </p:txBody>
      </p:sp>
      <p:sp>
        <p:nvSpPr>
          <p:cNvPr id="12" name="吹き出し: 四角形 11">
            <a:extLst>
              <a:ext uri="{FF2B5EF4-FFF2-40B4-BE49-F238E27FC236}">
                <a16:creationId xmlns:a16="http://schemas.microsoft.com/office/drawing/2014/main" id="{49CB91BD-4018-B0C0-4884-4C09DA016E2D}"/>
              </a:ext>
            </a:extLst>
          </p:cNvPr>
          <p:cNvSpPr/>
          <p:nvPr/>
        </p:nvSpPr>
        <p:spPr>
          <a:xfrm>
            <a:off x="212652" y="1898140"/>
            <a:ext cx="2331174" cy="1984811"/>
          </a:xfrm>
          <a:prstGeom prst="wedgeRectCallout">
            <a:avLst>
              <a:gd name="adj1" fmla="val 89822"/>
              <a:gd name="adj2" fmla="val -37702"/>
            </a:avLst>
          </a:prstGeom>
        </p:spPr>
        <p:style>
          <a:lnRef idx="2">
            <a:schemeClr val="accent3"/>
          </a:lnRef>
          <a:fillRef idx="1">
            <a:schemeClr val="lt1"/>
          </a:fillRef>
          <a:effectRef idx="0">
            <a:schemeClr val="accent3"/>
          </a:effectRef>
          <a:fontRef idx="minor">
            <a:schemeClr val="dk1"/>
          </a:fontRef>
        </p:style>
        <p:txBody>
          <a:bodyPr wrap="square" rtlCol="0" anchor="ctr">
            <a:noAutofit/>
          </a:bodyPr>
          <a:lstStyle/>
          <a:p>
            <a:r>
              <a:rPr lang="en-US" altLang="ja-JP" sz="1600" dirty="0">
                <a:latin typeface="メイリオ" panose="020B0604030504040204" pitchFamily="50" charset="-128"/>
                <a:ea typeface="メイリオ" panose="020B0604030504040204" pitchFamily="50" charset="-128"/>
              </a:rPr>
              <a:t>“MNIST</a:t>
            </a:r>
            <a:r>
              <a:rPr lang="ja-JP" altLang="en-US" sz="1600" dirty="0">
                <a:latin typeface="メイリオ" panose="020B0604030504040204" pitchFamily="50" charset="-128"/>
                <a:ea typeface="メイリオ" panose="020B0604030504040204" pitchFamily="50" charset="-128"/>
              </a:rPr>
              <a:t>という手書き数字画像データセットがどのようなものなのか，それぞれのデータと全体の状況を可視化する</a:t>
            </a:r>
            <a:r>
              <a:rPr lang="en-US" altLang="ja-JP" sz="1600" dirty="0">
                <a:latin typeface="メイリオ" panose="020B0604030504040204" pitchFamily="50" charset="-128"/>
                <a:ea typeface="メイリオ" panose="020B0604030504040204" pitchFamily="50" charset="-128"/>
              </a:rPr>
              <a:t>python</a:t>
            </a:r>
            <a:r>
              <a:rPr lang="ja-JP" altLang="en-US" sz="1600" dirty="0">
                <a:latin typeface="メイリオ" panose="020B0604030504040204" pitchFamily="50" charset="-128"/>
                <a:ea typeface="メイリオ" panose="020B0604030504040204" pitchFamily="50" charset="-128"/>
              </a:rPr>
              <a:t>プログラムをつくってください．</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sp>
        <p:nvSpPr>
          <p:cNvPr id="10" name="吹き出し: 四角形 9">
            <a:extLst>
              <a:ext uri="{FF2B5EF4-FFF2-40B4-BE49-F238E27FC236}">
                <a16:creationId xmlns:a16="http://schemas.microsoft.com/office/drawing/2014/main" id="{16365E93-EEF0-27CF-C9B2-53E55908A175}"/>
              </a:ext>
            </a:extLst>
          </p:cNvPr>
          <p:cNvSpPr/>
          <p:nvPr/>
        </p:nvSpPr>
        <p:spPr>
          <a:xfrm>
            <a:off x="212652" y="4896521"/>
            <a:ext cx="2185799" cy="972651"/>
          </a:xfrm>
          <a:prstGeom prst="wedgeRectCallout">
            <a:avLst>
              <a:gd name="adj1" fmla="val 89822"/>
              <a:gd name="adj2" fmla="val -37702"/>
            </a:avLst>
          </a:prstGeom>
        </p:spPr>
        <p:style>
          <a:lnRef idx="2">
            <a:schemeClr val="accent3"/>
          </a:lnRef>
          <a:fillRef idx="1">
            <a:schemeClr val="lt1"/>
          </a:fillRef>
          <a:effectRef idx="0">
            <a:schemeClr val="accent3"/>
          </a:effectRef>
          <a:fontRef idx="minor">
            <a:schemeClr val="dk1"/>
          </a:fontRef>
        </p:style>
        <p:txBody>
          <a:bodyPr wrap="square" rtlCol="0" anchor="ctr">
            <a:noAutofit/>
          </a:bodyPr>
          <a:lstStyle/>
          <a:p>
            <a:r>
              <a:rPr lang="en-US" altLang="ja-JP" sz="1600" dirty="0">
                <a:latin typeface="メイリオ" panose="020B0604030504040204" pitchFamily="50" charset="-128"/>
                <a:ea typeface="メイリオ" panose="020B0604030504040204" pitchFamily="50" charset="-128"/>
              </a:rPr>
              <a:t>Python</a:t>
            </a:r>
            <a:r>
              <a:rPr lang="ja-JP" altLang="en-US" sz="1600" dirty="0">
                <a:latin typeface="メイリオ" panose="020B0604030504040204" pitchFamily="50" charset="-128"/>
                <a:ea typeface="メイリオ" panose="020B0604030504040204" pitchFamily="50" charset="-128"/>
              </a:rPr>
              <a:t>のプログラムコードを自動で生成</a:t>
            </a:r>
          </a:p>
        </p:txBody>
      </p:sp>
      <p:sp>
        <p:nvSpPr>
          <p:cNvPr id="3" name="フッター プレースホルダー 2">
            <a:extLst>
              <a:ext uri="{FF2B5EF4-FFF2-40B4-BE49-F238E27FC236}">
                <a16:creationId xmlns:a16="http://schemas.microsoft.com/office/drawing/2014/main" id="{ADEFAE47-5668-1C7D-F818-EE324E2D9FFA}"/>
              </a:ext>
            </a:extLst>
          </p:cNvPr>
          <p:cNvSpPr txBox="1">
            <a:spLocks/>
          </p:cNvSpPr>
          <p:nvPr/>
        </p:nvSpPr>
        <p:spPr>
          <a:xfrm>
            <a:off x="6356490" y="6557455"/>
            <a:ext cx="5742052" cy="310551"/>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ja-JP" altLang="en-US" sz="1400" dirty="0">
                <a:solidFill>
                  <a:schemeClr val="bg1">
                    <a:lumMod val="65000"/>
                  </a:schemeClr>
                </a:solidFill>
              </a:rPr>
              <a:t>九州大学 数理・データサイエンス教育研究センター／ </a:t>
            </a:r>
            <a:r>
              <a:rPr lang="en-US" altLang="ja-JP" sz="1400" dirty="0">
                <a:solidFill>
                  <a:schemeClr val="bg1">
                    <a:lumMod val="65000"/>
                  </a:schemeClr>
                </a:solidFill>
              </a:rPr>
              <a:t>2024</a:t>
            </a:r>
            <a:r>
              <a:rPr lang="ja-JP" altLang="en-US" sz="1400" dirty="0">
                <a:solidFill>
                  <a:schemeClr val="bg1">
                    <a:lumMod val="65000"/>
                  </a:schemeClr>
                </a:solidFill>
              </a:rPr>
              <a:t>年</a:t>
            </a:r>
            <a:r>
              <a:rPr lang="en-US" altLang="ja-JP" sz="1400" dirty="0">
                <a:solidFill>
                  <a:schemeClr val="bg1">
                    <a:lumMod val="65000"/>
                  </a:schemeClr>
                </a:solidFill>
              </a:rPr>
              <a:t>9</a:t>
            </a:r>
            <a:r>
              <a:rPr lang="ja-JP" altLang="en-US" sz="1400" dirty="0">
                <a:solidFill>
                  <a:schemeClr val="bg1">
                    <a:lumMod val="65000"/>
                  </a:schemeClr>
                </a:solidFill>
              </a:rPr>
              <a:t>月版</a:t>
            </a:r>
          </a:p>
        </p:txBody>
      </p:sp>
    </p:spTree>
    <p:extLst>
      <p:ext uri="{BB962C8B-B14F-4D97-AF65-F5344CB8AC3E}">
        <p14:creationId xmlns:p14="http://schemas.microsoft.com/office/powerpoint/2010/main" val="1842876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E4E6-71B0-71D8-7C5E-137418A687A8}"/>
            </a:ext>
          </a:extLst>
        </p:cNvPr>
        <p:cNvGrpSpPr/>
        <p:nvPr/>
      </p:nvGrpSpPr>
      <p:grpSpPr>
        <a:xfrm>
          <a:off x="0" y="0"/>
          <a:ext cx="0" cy="0"/>
          <a:chOff x="0" y="0"/>
          <a:chExt cx="0" cy="0"/>
        </a:xfrm>
      </p:grpSpPr>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90BDAE5E-CC19-FBCD-CF41-1CA701578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4198" y="1554245"/>
            <a:ext cx="6590802" cy="4926231"/>
          </a:xfrm>
          <a:prstGeom prst="rect">
            <a:avLst/>
          </a:prstGeom>
        </p:spPr>
      </p:pic>
      <p:sp>
        <p:nvSpPr>
          <p:cNvPr id="2" name="タイトル 1">
            <a:extLst>
              <a:ext uri="{FF2B5EF4-FFF2-40B4-BE49-F238E27FC236}">
                <a16:creationId xmlns:a16="http://schemas.microsoft.com/office/drawing/2014/main" id="{513D5418-58A5-802F-17D4-E2FBE01E9C0A}"/>
              </a:ext>
            </a:extLst>
          </p:cNvPr>
          <p:cNvSpPr>
            <a:spLocks noGrp="1"/>
          </p:cNvSpPr>
          <p:nvPr>
            <p:ph type="title"/>
          </p:nvPr>
        </p:nvSpPr>
        <p:spPr>
          <a:xfrm>
            <a:off x="838200" y="228682"/>
            <a:ext cx="10515600" cy="1325563"/>
          </a:xfrm>
        </p:spPr>
        <p:txBody>
          <a:bodyPr>
            <a:normAutofit/>
          </a:bodyPr>
          <a:lstStyle/>
          <a:p>
            <a:r>
              <a:rPr kumimoji="1" lang="ja-JP" altLang="en-US" dirty="0"/>
              <a:t>いまはもう，こんな時代</a:t>
            </a:r>
            <a:r>
              <a:rPr lang="ja-JP" altLang="en-US" dirty="0"/>
              <a:t>：</a:t>
            </a:r>
            <a:br>
              <a:rPr lang="en-US" altLang="ja-JP" dirty="0"/>
            </a:br>
            <a:r>
              <a:rPr lang="ja-JP" altLang="en-US" dirty="0"/>
              <a:t>　</a:t>
            </a:r>
            <a:r>
              <a:rPr lang="en-US" altLang="ja-JP" dirty="0"/>
              <a:t>AI</a:t>
            </a:r>
            <a:r>
              <a:rPr lang="ja-JP" altLang="en-US" dirty="0"/>
              <a:t>で思い通りに計算機を操れる</a:t>
            </a:r>
            <a:endParaRPr kumimoji="1" lang="ja-JP" altLang="en-US" dirty="0"/>
          </a:p>
        </p:txBody>
      </p:sp>
      <p:sp>
        <p:nvSpPr>
          <p:cNvPr id="12" name="吹き出し: 四角形 11">
            <a:extLst>
              <a:ext uri="{FF2B5EF4-FFF2-40B4-BE49-F238E27FC236}">
                <a16:creationId xmlns:a16="http://schemas.microsoft.com/office/drawing/2014/main" id="{A6245793-78A4-86ED-FF65-FF377D579771}"/>
              </a:ext>
            </a:extLst>
          </p:cNvPr>
          <p:cNvSpPr/>
          <p:nvPr/>
        </p:nvSpPr>
        <p:spPr>
          <a:xfrm>
            <a:off x="163033" y="2295089"/>
            <a:ext cx="2394970" cy="972651"/>
          </a:xfrm>
          <a:prstGeom prst="wedgeRectCallout">
            <a:avLst>
              <a:gd name="adj1" fmla="val 89822"/>
              <a:gd name="adj2" fmla="val -37702"/>
            </a:avLst>
          </a:prstGeom>
        </p:spPr>
        <p:style>
          <a:lnRef idx="2">
            <a:schemeClr val="accent3"/>
          </a:lnRef>
          <a:fillRef idx="1">
            <a:schemeClr val="lt1"/>
          </a:fillRef>
          <a:effectRef idx="0">
            <a:schemeClr val="accent3"/>
          </a:effectRef>
          <a:fontRef idx="minor">
            <a:schemeClr val="dk1"/>
          </a:fontRef>
        </p:style>
        <p:txBody>
          <a:bodyPr wrap="square" rtlCol="0" anchor="ctr">
            <a:noAutofit/>
          </a:bodyPr>
          <a:lstStyle/>
          <a:p>
            <a:r>
              <a:rPr lang="en-US" altLang="ja-JP" sz="1600" dirty="0">
                <a:latin typeface="メイリオ" panose="020B0604030504040204" pitchFamily="50" charset="-128"/>
                <a:ea typeface="メイリオ" panose="020B0604030504040204" pitchFamily="50" charset="-128"/>
              </a:rPr>
              <a:t>Python</a:t>
            </a:r>
            <a:r>
              <a:rPr lang="ja-JP" altLang="en-US" sz="1600" dirty="0">
                <a:latin typeface="メイリオ" panose="020B0604030504040204" pitchFamily="50" charset="-128"/>
                <a:ea typeface="メイリオ" panose="020B0604030504040204" pitchFamily="50" charset="-128"/>
              </a:rPr>
              <a:t>の自動で生成されたプログラムコードを実行</a:t>
            </a:r>
          </a:p>
        </p:txBody>
      </p:sp>
      <p:sp>
        <p:nvSpPr>
          <p:cNvPr id="3" name="フッター プレースホルダー 2">
            <a:extLst>
              <a:ext uri="{FF2B5EF4-FFF2-40B4-BE49-F238E27FC236}">
                <a16:creationId xmlns:a16="http://schemas.microsoft.com/office/drawing/2014/main" id="{B6ECAC84-C32D-DEB9-CE2C-24FCAB573F91}"/>
              </a:ext>
            </a:extLst>
          </p:cNvPr>
          <p:cNvSpPr txBox="1">
            <a:spLocks/>
          </p:cNvSpPr>
          <p:nvPr/>
        </p:nvSpPr>
        <p:spPr>
          <a:xfrm>
            <a:off x="6449948" y="6543894"/>
            <a:ext cx="5742052" cy="310551"/>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ja-JP" altLang="en-US" sz="1400" dirty="0">
                <a:solidFill>
                  <a:schemeClr val="bg1">
                    <a:lumMod val="65000"/>
                  </a:schemeClr>
                </a:solidFill>
              </a:rPr>
              <a:t>九州大学 数理・データサイエンス教育研究センター／ </a:t>
            </a:r>
            <a:r>
              <a:rPr lang="en-US" altLang="ja-JP" sz="1400" dirty="0">
                <a:solidFill>
                  <a:schemeClr val="bg1">
                    <a:lumMod val="65000"/>
                  </a:schemeClr>
                </a:solidFill>
              </a:rPr>
              <a:t>2024</a:t>
            </a:r>
            <a:r>
              <a:rPr lang="ja-JP" altLang="en-US" sz="1400" dirty="0">
                <a:solidFill>
                  <a:schemeClr val="bg1">
                    <a:lumMod val="65000"/>
                  </a:schemeClr>
                </a:solidFill>
              </a:rPr>
              <a:t>年</a:t>
            </a:r>
            <a:r>
              <a:rPr lang="en-US" altLang="ja-JP" sz="1400" dirty="0">
                <a:solidFill>
                  <a:schemeClr val="bg1">
                    <a:lumMod val="65000"/>
                  </a:schemeClr>
                </a:solidFill>
              </a:rPr>
              <a:t>9</a:t>
            </a:r>
            <a:r>
              <a:rPr lang="ja-JP" altLang="en-US" sz="1400" dirty="0">
                <a:solidFill>
                  <a:schemeClr val="bg1">
                    <a:lumMod val="65000"/>
                  </a:schemeClr>
                </a:solidFill>
              </a:rPr>
              <a:t>月版</a:t>
            </a:r>
          </a:p>
        </p:txBody>
      </p:sp>
    </p:spTree>
    <p:extLst>
      <p:ext uri="{BB962C8B-B14F-4D97-AF65-F5344CB8AC3E}">
        <p14:creationId xmlns:p14="http://schemas.microsoft.com/office/powerpoint/2010/main" val="618438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4A98D9-EB69-B8E3-214F-BC072B802EFC}"/>
              </a:ext>
            </a:extLst>
          </p:cNvPr>
          <p:cNvSpPr>
            <a:spLocks noGrp="1"/>
          </p:cNvSpPr>
          <p:nvPr>
            <p:ph type="title"/>
          </p:nvPr>
        </p:nvSpPr>
        <p:spPr>
          <a:xfrm>
            <a:off x="838200" y="153384"/>
            <a:ext cx="10515600" cy="1325563"/>
          </a:xfrm>
        </p:spPr>
        <p:txBody>
          <a:bodyPr/>
          <a:lstStyle/>
          <a:p>
            <a:r>
              <a:rPr kumimoji="1" lang="ja-JP" altLang="en-US" dirty="0"/>
              <a:t>こんな時代だからこそ，</a:t>
            </a:r>
            <a:br>
              <a:rPr kumimoji="1" lang="en-US" altLang="ja-JP" dirty="0"/>
            </a:br>
            <a:r>
              <a:rPr kumimoji="1" lang="ja-JP" altLang="en-US" dirty="0"/>
              <a:t>自分の身は自分で守らないと！</a:t>
            </a:r>
          </a:p>
        </p:txBody>
      </p:sp>
      <p:sp>
        <p:nvSpPr>
          <p:cNvPr id="4" name="テキスト ボックス 3">
            <a:extLst>
              <a:ext uri="{FF2B5EF4-FFF2-40B4-BE49-F238E27FC236}">
                <a16:creationId xmlns:a16="http://schemas.microsoft.com/office/drawing/2014/main" id="{6FE98977-3DE1-670C-A05B-2F9950047859}"/>
              </a:ext>
            </a:extLst>
          </p:cNvPr>
          <p:cNvSpPr txBox="1"/>
          <p:nvPr/>
        </p:nvSpPr>
        <p:spPr>
          <a:xfrm>
            <a:off x="285505" y="2017664"/>
            <a:ext cx="11793081" cy="3970318"/>
          </a:xfrm>
          <a:prstGeom prst="rect">
            <a:avLst/>
          </a:prstGeom>
          <a:noFill/>
        </p:spPr>
        <p:txBody>
          <a:bodyPr wrap="square" rtlCol="0">
            <a:spAutoFit/>
          </a:bodyPr>
          <a:lstStyle/>
          <a:p>
            <a:r>
              <a:rPr lang="ja-JP" altLang="en-US" sz="3600" dirty="0">
                <a:solidFill>
                  <a:schemeClr val="accent2"/>
                </a:solidFill>
                <a:latin typeface="メイリオ" panose="020B0604030504040204" pitchFamily="50" charset="-128"/>
                <a:ea typeface="メイリオ" panose="020B0604030504040204" pitchFamily="50" charset="-128"/>
              </a:rPr>
              <a:t>なにがどのように処理されていまの結果が出てるのか？</a:t>
            </a:r>
            <a:endParaRPr lang="en-US" altLang="ja-JP" sz="3600" dirty="0">
              <a:solidFill>
                <a:schemeClr val="accent2"/>
              </a:solidFill>
              <a:latin typeface="メイリオ" panose="020B0604030504040204" pitchFamily="50" charset="-128"/>
              <a:ea typeface="メイリオ" panose="020B0604030504040204" pitchFamily="50" charset="-128"/>
            </a:endParaRPr>
          </a:p>
          <a:p>
            <a:endParaRPr lang="en-US" altLang="ja-JP" sz="3600" dirty="0">
              <a:solidFill>
                <a:schemeClr val="accent2"/>
              </a:solidFill>
              <a:latin typeface="メイリオ" panose="020B0604030504040204" pitchFamily="50" charset="-128"/>
              <a:ea typeface="メイリオ" panose="020B0604030504040204" pitchFamily="50" charset="-128"/>
            </a:endParaRPr>
          </a:p>
          <a:p>
            <a:r>
              <a:rPr lang="ja-JP" altLang="en-US" sz="3600" dirty="0">
                <a:solidFill>
                  <a:schemeClr val="accent4"/>
                </a:solidFill>
                <a:latin typeface="メイリオ" panose="020B0604030504040204" pitchFamily="50" charset="-128"/>
                <a:ea typeface="メイリオ" panose="020B0604030504040204" pitchFamily="50" charset="-128"/>
              </a:rPr>
              <a:t>それは本当に自分が望んだ処理になっているのか？</a:t>
            </a:r>
            <a:endParaRPr lang="en-US" altLang="ja-JP" sz="3600" dirty="0">
              <a:solidFill>
                <a:schemeClr val="accent4"/>
              </a:solidFill>
              <a:latin typeface="メイリオ" panose="020B0604030504040204" pitchFamily="50" charset="-128"/>
              <a:ea typeface="メイリオ" panose="020B0604030504040204" pitchFamily="50" charset="-128"/>
            </a:endParaRPr>
          </a:p>
          <a:p>
            <a:endParaRPr lang="en-US" altLang="ja-JP" sz="3600" dirty="0">
              <a:solidFill>
                <a:schemeClr val="accent6"/>
              </a:solidFill>
              <a:latin typeface="メイリオ" panose="020B0604030504040204" pitchFamily="50" charset="-128"/>
              <a:ea typeface="メイリオ" panose="020B0604030504040204" pitchFamily="50" charset="-128"/>
            </a:endParaRPr>
          </a:p>
          <a:p>
            <a:r>
              <a:rPr lang="ja-JP" altLang="en-US" sz="3600" dirty="0">
                <a:solidFill>
                  <a:schemeClr val="accent6"/>
                </a:solidFill>
                <a:latin typeface="メイリオ" panose="020B0604030504040204" pitchFamily="50" charset="-128"/>
                <a:ea typeface="メイリオ" panose="020B0604030504040204" pitchFamily="50" charset="-128"/>
              </a:rPr>
              <a:t>間違っているとすればどのように修正すればよいのか？</a:t>
            </a:r>
            <a:endParaRPr lang="en-US" altLang="ja-JP" sz="3600" dirty="0">
              <a:solidFill>
                <a:schemeClr val="accent6"/>
              </a:solidFill>
              <a:latin typeface="メイリオ" panose="020B0604030504040204" pitchFamily="50" charset="-128"/>
              <a:ea typeface="メイリオ" panose="020B0604030504040204" pitchFamily="50" charset="-128"/>
            </a:endParaRPr>
          </a:p>
          <a:p>
            <a:endParaRPr lang="en-US" altLang="ja-JP" sz="3600" dirty="0">
              <a:latin typeface="メイリオ" panose="020B0604030504040204" pitchFamily="50" charset="-128"/>
              <a:ea typeface="メイリオ" panose="020B0604030504040204" pitchFamily="50" charset="-128"/>
            </a:endParaRPr>
          </a:p>
          <a:p>
            <a:r>
              <a:rPr lang="ja-JP" altLang="en-US" sz="3600" dirty="0">
                <a:latin typeface="メイリオ" panose="020B0604030504040204" pitchFamily="50" charset="-128"/>
                <a:ea typeface="メイリオ" panose="020B0604030504040204" pitchFamily="50" charset="-128"/>
              </a:rPr>
              <a:t>これを正しい処理に修正できる人材が求められてます</a:t>
            </a:r>
            <a:endParaRPr lang="en-US" altLang="ja-JP" sz="3600" dirty="0">
              <a:latin typeface="メイリオ" panose="020B0604030504040204" pitchFamily="50" charset="-128"/>
              <a:ea typeface="メイリオ" panose="020B0604030504040204" pitchFamily="50" charset="-128"/>
            </a:endParaRPr>
          </a:p>
        </p:txBody>
      </p:sp>
      <p:sp>
        <p:nvSpPr>
          <p:cNvPr id="3" name="フッター プレースホルダー 2">
            <a:extLst>
              <a:ext uri="{FF2B5EF4-FFF2-40B4-BE49-F238E27FC236}">
                <a16:creationId xmlns:a16="http://schemas.microsoft.com/office/drawing/2014/main" id="{39B52A4E-5B48-B584-5CAA-08C2ECFF7FBA}"/>
              </a:ext>
            </a:extLst>
          </p:cNvPr>
          <p:cNvSpPr txBox="1">
            <a:spLocks/>
          </p:cNvSpPr>
          <p:nvPr/>
        </p:nvSpPr>
        <p:spPr>
          <a:xfrm>
            <a:off x="6449948" y="6526699"/>
            <a:ext cx="5742052" cy="310551"/>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ja-JP" altLang="en-US" sz="1400" dirty="0">
                <a:solidFill>
                  <a:schemeClr val="bg1">
                    <a:lumMod val="65000"/>
                  </a:schemeClr>
                </a:solidFill>
              </a:rPr>
              <a:t>九州大学 数理・データサイエンス教育研究センター／ </a:t>
            </a:r>
            <a:r>
              <a:rPr lang="en-US" altLang="ja-JP" sz="1400" dirty="0">
                <a:solidFill>
                  <a:schemeClr val="bg1">
                    <a:lumMod val="65000"/>
                  </a:schemeClr>
                </a:solidFill>
              </a:rPr>
              <a:t>2024</a:t>
            </a:r>
            <a:r>
              <a:rPr lang="ja-JP" altLang="en-US" sz="1400" dirty="0">
                <a:solidFill>
                  <a:schemeClr val="bg1">
                    <a:lumMod val="65000"/>
                  </a:schemeClr>
                </a:solidFill>
              </a:rPr>
              <a:t>年</a:t>
            </a:r>
            <a:r>
              <a:rPr lang="en-US" altLang="ja-JP" sz="1400" dirty="0">
                <a:solidFill>
                  <a:schemeClr val="bg1">
                    <a:lumMod val="65000"/>
                  </a:schemeClr>
                </a:solidFill>
              </a:rPr>
              <a:t>9</a:t>
            </a:r>
            <a:r>
              <a:rPr lang="ja-JP" altLang="en-US" sz="1400" dirty="0">
                <a:solidFill>
                  <a:schemeClr val="bg1">
                    <a:lumMod val="65000"/>
                  </a:schemeClr>
                </a:solidFill>
              </a:rPr>
              <a:t>月版</a:t>
            </a:r>
          </a:p>
        </p:txBody>
      </p:sp>
    </p:spTree>
    <p:extLst>
      <p:ext uri="{BB962C8B-B14F-4D97-AF65-F5344CB8AC3E}">
        <p14:creationId xmlns:p14="http://schemas.microsoft.com/office/powerpoint/2010/main" val="3200403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379F4-D3C8-3915-E0C4-90790ED72F25}"/>
              </a:ext>
            </a:extLst>
          </p:cNvPr>
          <p:cNvSpPr>
            <a:spLocks noGrp="1"/>
          </p:cNvSpPr>
          <p:nvPr>
            <p:ph type="title"/>
          </p:nvPr>
        </p:nvSpPr>
        <p:spPr>
          <a:xfrm>
            <a:off x="798985" y="156055"/>
            <a:ext cx="10515600" cy="1325563"/>
          </a:xfrm>
        </p:spPr>
        <p:txBody>
          <a:bodyPr/>
          <a:lstStyle/>
          <a:p>
            <a:r>
              <a:rPr kumimoji="1" lang="ja-JP" altLang="en-US" dirty="0"/>
              <a:t>なんだかわからないが「できちゃう」</a:t>
            </a:r>
          </a:p>
        </p:txBody>
      </p:sp>
      <p:pic>
        <p:nvPicPr>
          <p:cNvPr id="22" name="図 21" descr="文字が書かれている&#10;&#10;自動的に生成された説明">
            <a:extLst>
              <a:ext uri="{FF2B5EF4-FFF2-40B4-BE49-F238E27FC236}">
                <a16:creationId xmlns:a16="http://schemas.microsoft.com/office/drawing/2014/main" id="{408C5EF2-D6DD-D3D5-B588-2A68AF151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3038" y="1978333"/>
            <a:ext cx="5547494" cy="3599706"/>
          </a:xfrm>
          <a:prstGeom prst="rect">
            <a:avLst/>
          </a:prstGeom>
        </p:spPr>
      </p:pic>
      <p:sp>
        <p:nvSpPr>
          <p:cNvPr id="4" name="吹き出し: 四角形 3">
            <a:extLst>
              <a:ext uri="{FF2B5EF4-FFF2-40B4-BE49-F238E27FC236}">
                <a16:creationId xmlns:a16="http://schemas.microsoft.com/office/drawing/2014/main" id="{5E52910F-93B7-27B6-C80B-11124E82F722}"/>
              </a:ext>
            </a:extLst>
          </p:cNvPr>
          <p:cNvSpPr/>
          <p:nvPr/>
        </p:nvSpPr>
        <p:spPr>
          <a:xfrm>
            <a:off x="1907528" y="3309973"/>
            <a:ext cx="2040425" cy="1616451"/>
          </a:xfrm>
          <a:prstGeom prst="wedgeRectCallout">
            <a:avLst>
              <a:gd name="adj1" fmla="val 11238"/>
              <a:gd name="adj2" fmla="val -23225"/>
            </a:avLst>
          </a:prstGeom>
        </p:spPr>
        <p:style>
          <a:lnRef idx="2">
            <a:schemeClr val="accent3"/>
          </a:lnRef>
          <a:fillRef idx="1">
            <a:schemeClr val="lt1"/>
          </a:fillRef>
          <a:effectRef idx="0">
            <a:schemeClr val="accent3"/>
          </a:effectRef>
          <a:fontRef idx="minor">
            <a:schemeClr val="dk1"/>
          </a:fontRef>
        </p:style>
        <p:txBody>
          <a:bodyPr wrap="square" rtlCol="0" anchor="ctr">
            <a:noAutofit/>
          </a:bodyPr>
          <a:lstStyle/>
          <a:p>
            <a:r>
              <a:rPr lang="en-US" altLang="ja-JP" sz="1600" dirty="0">
                <a:latin typeface="メイリオ" panose="020B0604030504040204" pitchFamily="50" charset="-128"/>
                <a:ea typeface="メイリオ" panose="020B0604030504040204" pitchFamily="50" charset="-128"/>
              </a:rPr>
              <a:t>“MNIST</a:t>
            </a:r>
            <a:r>
              <a:rPr lang="ja-JP" altLang="en-US" sz="1600" dirty="0">
                <a:latin typeface="メイリオ" panose="020B0604030504040204" pitchFamily="50" charset="-128"/>
                <a:ea typeface="メイリオ" panose="020B0604030504040204" pitchFamily="50" charset="-128"/>
              </a:rPr>
              <a:t>の手書き数字画像データセットを使って，他の数字画像を認識できるような</a:t>
            </a:r>
            <a:r>
              <a:rPr lang="en-US" altLang="ja-JP" sz="1600" dirty="0">
                <a:solidFill>
                  <a:schemeClr val="accent2"/>
                </a:solidFill>
                <a:latin typeface="メイリオ" panose="020B0604030504040204" pitchFamily="50" charset="-128"/>
                <a:ea typeface="メイリオ" panose="020B0604030504040204" pitchFamily="50" charset="-128"/>
              </a:rPr>
              <a:t>AI</a:t>
            </a:r>
            <a:r>
              <a:rPr lang="ja-JP" altLang="en-US" sz="1600" dirty="0">
                <a:solidFill>
                  <a:schemeClr val="accent2"/>
                </a:solidFill>
                <a:latin typeface="メイリオ" panose="020B0604030504040204" pitchFamily="50" charset="-128"/>
                <a:ea typeface="メイリオ" panose="020B0604030504040204" pitchFamily="50" charset="-128"/>
              </a:rPr>
              <a:t>を作ってください</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a:t>
            </a:r>
            <a:endParaRPr lang="ja-JP" altLang="en-US" sz="1600" dirty="0">
              <a:latin typeface="メイリオ" panose="020B0604030504040204" pitchFamily="50" charset="-128"/>
              <a:ea typeface="メイリオ" panose="020B0604030504040204" pitchFamily="50" charset="-128"/>
            </a:endParaRPr>
          </a:p>
        </p:txBody>
      </p:sp>
      <p:pic>
        <p:nvPicPr>
          <p:cNvPr id="5" name="図 4">
            <a:extLst>
              <a:ext uri="{FF2B5EF4-FFF2-40B4-BE49-F238E27FC236}">
                <a16:creationId xmlns:a16="http://schemas.microsoft.com/office/drawing/2014/main" id="{DAA7C813-25B0-65A3-D33E-9A8F579BA011}"/>
              </a:ext>
            </a:extLst>
          </p:cNvPr>
          <p:cNvPicPr>
            <a:picLocks noChangeAspect="1"/>
          </p:cNvPicPr>
          <p:nvPr/>
        </p:nvPicPr>
        <p:blipFill>
          <a:blip r:embed="rId4"/>
          <a:stretch>
            <a:fillRect/>
          </a:stretch>
        </p:blipFill>
        <p:spPr>
          <a:xfrm>
            <a:off x="8090203" y="3114117"/>
            <a:ext cx="2134559" cy="1889050"/>
          </a:xfrm>
          <a:prstGeom prst="rect">
            <a:avLst/>
          </a:prstGeom>
        </p:spPr>
      </p:pic>
      <p:sp>
        <p:nvSpPr>
          <p:cNvPr id="6" name="矢印: 右 5">
            <a:extLst>
              <a:ext uri="{FF2B5EF4-FFF2-40B4-BE49-F238E27FC236}">
                <a16:creationId xmlns:a16="http://schemas.microsoft.com/office/drawing/2014/main" id="{51C0C0AF-1B11-C81D-E6E9-DA8FC4DF334E}"/>
              </a:ext>
            </a:extLst>
          </p:cNvPr>
          <p:cNvSpPr/>
          <p:nvPr/>
        </p:nvSpPr>
        <p:spPr>
          <a:xfrm>
            <a:off x="4036170" y="3877680"/>
            <a:ext cx="391376" cy="481035"/>
          </a:xfrm>
          <a:prstGeom prst="rightArrow">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wrap="none" rtlCol="0" anchor="ctr">
            <a:noAutofit/>
          </a:bodyPr>
          <a:lstStyle/>
          <a:p>
            <a:pPr algn="ctr"/>
            <a:endParaRPr lang="ja-JP" altLang="en-US" sz="3200">
              <a:solidFill>
                <a:schemeClr val="tx1"/>
              </a:solidFill>
              <a:latin typeface="Meiryo UI" panose="020B0604030504040204" pitchFamily="50" charset="-128"/>
              <a:ea typeface="Meiryo UI" panose="020B0604030504040204" pitchFamily="50" charset="-128"/>
            </a:endParaRPr>
          </a:p>
        </p:txBody>
      </p:sp>
      <p:sp>
        <p:nvSpPr>
          <p:cNvPr id="7" name="矢印: 右 6">
            <a:extLst>
              <a:ext uri="{FF2B5EF4-FFF2-40B4-BE49-F238E27FC236}">
                <a16:creationId xmlns:a16="http://schemas.microsoft.com/office/drawing/2014/main" id="{9ABE9DFC-6D05-9415-0F79-D8676A05EA15}"/>
              </a:ext>
            </a:extLst>
          </p:cNvPr>
          <p:cNvSpPr/>
          <p:nvPr/>
        </p:nvSpPr>
        <p:spPr>
          <a:xfrm>
            <a:off x="7698826" y="3849479"/>
            <a:ext cx="391376" cy="481035"/>
          </a:xfrm>
          <a:prstGeom prst="rightArrow">
            <a:avLst/>
          </a:prstGeom>
          <a:ln>
            <a:solidFill>
              <a:schemeClr val="accent3"/>
            </a:solidFill>
          </a:ln>
        </p:spPr>
        <p:style>
          <a:lnRef idx="2">
            <a:schemeClr val="accent2"/>
          </a:lnRef>
          <a:fillRef idx="1">
            <a:schemeClr val="lt1"/>
          </a:fillRef>
          <a:effectRef idx="0">
            <a:schemeClr val="accent2"/>
          </a:effectRef>
          <a:fontRef idx="minor">
            <a:schemeClr val="dk1"/>
          </a:fontRef>
        </p:style>
        <p:txBody>
          <a:bodyPr wrap="none" rtlCol="0" anchor="ctr">
            <a:noAutofit/>
          </a:bodyPr>
          <a:lstStyle/>
          <a:p>
            <a:pPr algn="ctr"/>
            <a:endParaRPr lang="ja-JP" altLang="en-US" sz="3200">
              <a:solidFill>
                <a:schemeClr val="tx1"/>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71462212-E6C9-A20B-4C21-7EB66DC18EB5}"/>
              </a:ext>
            </a:extLst>
          </p:cNvPr>
          <p:cNvSpPr txBox="1"/>
          <p:nvPr/>
        </p:nvSpPr>
        <p:spPr>
          <a:xfrm>
            <a:off x="1993453" y="5079912"/>
            <a:ext cx="2040424" cy="461665"/>
          </a:xfrm>
          <a:prstGeom prst="rect">
            <a:avLst/>
          </a:prstGeom>
          <a:noFill/>
        </p:spPr>
        <p:txBody>
          <a:bodyPr wrap="square" rtlCol="0">
            <a:spAutoFit/>
          </a:bodyPr>
          <a:lstStyle/>
          <a:p>
            <a:r>
              <a:rPr lang="ja-JP" altLang="en-US" sz="2400" dirty="0">
                <a:latin typeface="メイリオ" panose="020B0604030504040204" pitchFamily="50" charset="-128"/>
                <a:ea typeface="メイリオ" panose="020B0604030504040204" pitchFamily="50" charset="-128"/>
              </a:rPr>
              <a:t>したいこと</a:t>
            </a:r>
          </a:p>
        </p:txBody>
      </p:sp>
      <p:sp>
        <p:nvSpPr>
          <p:cNvPr id="9" name="テキスト ボックス 8">
            <a:extLst>
              <a:ext uri="{FF2B5EF4-FFF2-40B4-BE49-F238E27FC236}">
                <a16:creationId xmlns:a16="http://schemas.microsoft.com/office/drawing/2014/main" id="{8D7FCE72-F5E4-C229-410D-36EBEC8B9EDE}"/>
              </a:ext>
            </a:extLst>
          </p:cNvPr>
          <p:cNvSpPr txBox="1"/>
          <p:nvPr/>
        </p:nvSpPr>
        <p:spPr>
          <a:xfrm>
            <a:off x="8612606" y="5079912"/>
            <a:ext cx="1415772" cy="461665"/>
          </a:xfrm>
          <a:prstGeom prst="rect">
            <a:avLst/>
          </a:prstGeom>
          <a:noFill/>
        </p:spPr>
        <p:txBody>
          <a:bodyPr wrap="none" rtlCol="0">
            <a:spAutoFit/>
          </a:bodyPr>
          <a:lstStyle/>
          <a:p>
            <a:r>
              <a:rPr lang="ja-JP" altLang="en-US" sz="2400" dirty="0">
                <a:latin typeface="メイリオ" panose="020B0604030504040204" pitchFamily="50" charset="-128"/>
                <a:ea typeface="メイリオ" panose="020B0604030504040204" pitchFamily="50" charset="-128"/>
              </a:rPr>
              <a:t>できた！</a:t>
            </a:r>
          </a:p>
        </p:txBody>
      </p:sp>
      <p:pic>
        <p:nvPicPr>
          <p:cNvPr id="14" name="図 13">
            <a:extLst>
              <a:ext uri="{FF2B5EF4-FFF2-40B4-BE49-F238E27FC236}">
                <a16:creationId xmlns:a16="http://schemas.microsoft.com/office/drawing/2014/main" id="{2527D4EB-0E3A-FB0C-4602-A3ACCEE8D181}"/>
              </a:ext>
            </a:extLst>
          </p:cNvPr>
          <p:cNvPicPr>
            <a:picLocks noChangeAspect="1"/>
          </p:cNvPicPr>
          <p:nvPr/>
        </p:nvPicPr>
        <p:blipFill rotWithShape="1">
          <a:blip r:embed="rId5"/>
          <a:srcRect b="29396"/>
          <a:stretch/>
        </p:blipFill>
        <p:spPr>
          <a:xfrm>
            <a:off x="4812789" y="1519991"/>
            <a:ext cx="2337561" cy="1541755"/>
          </a:xfrm>
          <a:prstGeom prst="rect">
            <a:avLst/>
          </a:prstGeom>
        </p:spPr>
      </p:pic>
      <p:pic>
        <p:nvPicPr>
          <p:cNvPr id="17" name="図 16">
            <a:extLst>
              <a:ext uri="{FF2B5EF4-FFF2-40B4-BE49-F238E27FC236}">
                <a16:creationId xmlns:a16="http://schemas.microsoft.com/office/drawing/2014/main" id="{5E5A0D3E-C3EE-B82F-6AC7-FDDCACC2EF21}"/>
              </a:ext>
            </a:extLst>
          </p:cNvPr>
          <p:cNvPicPr>
            <a:picLocks noChangeAspect="1"/>
          </p:cNvPicPr>
          <p:nvPr/>
        </p:nvPicPr>
        <p:blipFill rotWithShape="1">
          <a:blip r:embed="rId6"/>
          <a:srcRect b="39866"/>
          <a:stretch/>
        </p:blipFill>
        <p:spPr>
          <a:xfrm>
            <a:off x="5325093" y="2235639"/>
            <a:ext cx="1463384" cy="841252"/>
          </a:xfrm>
          <a:prstGeom prst="rect">
            <a:avLst/>
          </a:prstGeom>
        </p:spPr>
      </p:pic>
      <p:pic>
        <p:nvPicPr>
          <p:cNvPr id="11" name="図 10" descr="黒い背景に白い文字がある&#10;&#10;低い精度で自動的に生成された説明">
            <a:extLst>
              <a:ext uri="{FF2B5EF4-FFF2-40B4-BE49-F238E27FC236}">
                <a16:creationId xmlns:a16="http://schemas.microsoft.com/office/drawing/2014/main" id="{B34FAF47-48F6-0671-5828-C406E677A00F}"/>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b="31513"/>
          <a:stretch/>
        </p:blipFill>
        <p:spPr>
          <a:xfrm>
            <a:off x="4745294" y="2477997"/>
            <a:ext cx="1002259" cy="598895"/>
          </a:xfrm>
          <a:prstGeom prst="rect">
            <a:avLst/>
          </a:prstGeom>
        </p:spPr>
      </p:pic>
      <p:sp>
        <p:nvSpPr>
          <p:cNvPr id="18" name="テキスト ボックス 17">
            <a:extLst>
              <a:ext uri="{FF2B5EF4-FFF2-40B4-BE49-F238E27FC236}">
                <a16:creationId xmlns:a16="http://schemas.microsoft.com/office/drawing/2014/main" id="{59EC2D0B-93DE-5D9E-FF8A-75A7D42A0B77}"/>
              </a:ext>
            </a:extLst>
          </p:cNvPr>
          <p:cNvSpPr txBox="1"/>
          <p:nvPr/>
        </p:nvSpPr>
        <p:spPr>
          <a:xfrm>
            <a:off x="4074143" y="5436216"/>
            <a:ext cx="3570208" cy="1200329"/>
          </a:xfrm>
          <a:prstGeom prst="rect">
            <a:avLst/>
          </a:prstGeom>
          <a:noFill/>
        </p:spPr>
        <p:txBody>
          <a:bodyPr wrap="none" rtlCol="0">
            <a:spAutoFit/>
          </a:bodyPr>
          <a:lstStyle/>
          <a:p>
            <a:pPr algn="ctr"/>
            <a:r>
              <a:rPr lang="ja-JP" altLang="en-US" sz="2400" dirty="0">
                <a:latin typeface="メイリオ" panose="020B0604030504040204" pitchFamily="50" charset="-128"/>
                <a:ea typeface="メイリオ" panose="020B0604030504040204" pitchFamily="50" charset="-128"/>
              </a:rPr>
              <a:t>よくわからない</a:t>
            </a:r>
            <a:endParaRPr lang="en-US" altLang="ja-JP" sz="2400" dirty="0">
              <a:latin typeface="メイリオ" panose="020B0604030504040204" pitchFamily="50" charset="-128"/>
              <a:ea typeface="メイリオ" panose="020B0604030504040204" pitchFamily="50" charset="-128"/>
            </a:endParaRPr>
          </a:p>
          <a:p>
            <a:pPr algn="ctr"/>
            <a:r>
              <a:rPr lang="ja-JP" altLang="en-US" sz="2400" dirty="0">
                <a:latin typeface="メイリオ" panose="020B0604030504040204" pitchFamily="50" charset="-128"/>
                <a:ea typeface="メイリオ" panose="020B0604030504040204" pitchFamily="50" charset="-128"/>
              </a:rPr>
              <a:t>「数式」「プログラム」</a:t>
            </a:r>
            <a:endParaRPr lang="en-US" altLang="ja-JP" sz="2400" dirty="0">
              <a:latin typeface="メイリオ" panose="020B0604030504040204" pitchFamily="50" charset="-128"/>
              <a:ea typeface="メイリオ" panose="020B0604030504040204" pitchFamily="50" charset="-128"/>
            </a:endParaRPr>
          </a:p>
          <a:p>
            <a:pPr algn="ctr"/>
            <a:r>
              <a:rPr lang="ja-JP" altLang="en-US" sz="2400" dirty="0">
                <a:latin typeface="メイリオ" panose="020B0604030504040204" pitchFamily="50" charset="-128"/>
                <a:ea typeface="メイリオ" panose="020B0604030504040204" pitchFamily="50" charset="-128"/>
              </a:rPr>
              <a:t>「</a:t>
            </a:r>
            <a:r>
              <a:rPr lang="en-US" altLang="ja-JP" sz="2400" dirty="0">
                <a:latin typeface="メイリオ" panose="020B0604030504040204" pitchFamily="50" charset="-128"/>
                <a:ea typeface="メイリオ" panose="020B0604030504040204" pitchFamily="50" charset="-128"/>
              </a:rPr>
              <a:t>AI</a:t>
            </a:r>
            <a:r>
              <a:rPr lang="ja-JP" altLang="en-US" sz="2400" dirty="0">
                <a:latin typeface="メイリオ" panose="020B0604030504040204" pitchFamily="50" charset="-128"/>
                <a:ea typeface="メイリオ" panose="020B0604030504040204" pitchFamily="50" charset="-128"/>
              </a:rPr>
              <a:t>による支援」</a:t>
            </a:r>
          </a:p>
        </p:txBody>
      </p:sp>
      <p:sp>
        <p:nvSpPr>
          <p:cNvPr id="12" name="テキスト ボックス 11">
            <a:extLst>
              <a:ext uri="{FF2B5EF4-FFF2-40B4-BE49-F238E27FC236}">
                <a16:creationId xmlns:a16="http://schemas.microsoft.com/office/drawing/2014/main" id="{91FEEDFC-1EE1-E66D-F139-869F4E917AEC}"/>
              </a:ext>
            </a:extLst>
          </p:cNvPr>
          <p:cNvSpPr txBox="1"/>
          <p:nvPr/>
        </p:nvSpPr>
        <p:spPr>
          <a:xfrm>
            <a:off x="235038" y="1354471"/>
            <a:ext cx="6096000" cy="584775"/>
          </a:xfrm>
          <a:prstGeom prst="rect">
            <a:avLst/>
          </a:prstGeom>
          <a:noFill/>
        </p:spPr>
        <p:txBody>
          <a:bodyPr wrap="square">
            <a:spAutoFit/>
          </a:bodyPr>
          <a:lstStyle/>
          <a:p>
            <a:r>
              <a:rPr lang="en-US" altLang="ja-JP" sz="3200" b="1" dirty="0">
                <a:solidFill>
                  <a:srgbClr val="FF0000"/>
                </a:solidFill>
                <a:latin typeface="メイリオ" panose="020B0604030504040204" pitchFamily="50" charset="-128"/>
                <a:ea typeface="メイリオ" panose="020B0604030504040204" pitchFamily="50" charset="-128"/>
              </a:rPr>
              <a:t>AI</a:t>
            </a:r>
            <a:r>
              <a:rPr lang="ja-JP" altLang="en-US" sz="3200" b="1" dirty="0">
                <a:solidFill>
                  <a:srgbClr val="FF0000"/>
                </a:solidFill>
                <a:latin typeface="メイリオ" panose="020B0604030504040204" pitchFamily="50" charset="-128"/>
                <a:ea typeface="メイリオ" panose="020B0604030504040204" pitchFamily="50" charset="-128"/>
              </a:rPr>
              <a:t>とうまく付き合う時代</a:t>
            </a:r>
            <a:endParaRPr lang="ja-JP" altLang="en-US" b="1" dirty="0">
              <a:solidFill>
                <a:srgbClr val="FF0000"/>
              </a:solidFill>
              <a:latin typeface="メイリオ" panose="020B0604030504040204" pitchFamily="50" charset="-128"/>
              <a:ea typeface="メイリオ" panose="020B0604030504040204" pitchFamily="50" charset="-128"/>
            </a:endParaRPr>
          </a:p>
        </p:txBody>
      </p:sp>
      <p:sp>
        <p:nvSpPr>
          <p:cNvPr id="3" name="フッター プレースホルダー 2">
            <a:extLst>
              <a:ext uri="{FF2B5EF4-FFF2-40B4-BE49-F238E27FC236}">
                <a16:creationId xmlns:a16="http://schemas.microsoft.com/office/drawing/2014/main" id="{EB875D59-5E38-3FDF-82AD-0042289AC30B}"/>
              </a:ext>
            </a:extLst>
          </p:cNvPr>
          <p:cNvSpPr txBox="1">
            <a:spLocks/>
          </p:cNvSpPr>
          <p:nvPr/>
        </p:nvSpPr>
        <p:spPr>
          <a:xfrm>
            <a:off x="6449466" y="6519629"/>
            <a:ext cx="5742052" cy="310551"/>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ja-JP" altLang="en-US" sz="1400" dirty="0">
                <a:solidFill>
                  <a:schemeClr val="bg1">
                    <a:lumMod val="65000"/>
                  </a:schemeClr>
                </a:solidFill>
              </a:rPr>
              <a:t>九州大学 数理・データサイエンス教育研究センター／ </a:t>
            </a:r>
            <a:r>
              <a:rPr lang="en-US" altLang="ja-JP" sz="1400" dirty="0">
                <a:solidFill>
                  <a:schemeClr val="bg1">
                    <a:lumMod val="65000"/>
                  </a:schemeClr>
                </a:solidFill>
              </a:rPr>
              <a:t>2024</a:t>
            </a:r>
            <a:r>
              <a:rPr lang="ja-JP" altLang="en-US" sz="1400" dirty="0">
                <a:solidFill>
                  <a:schemeClr val="bg1">
                    <a:lumMod val="65000"/>
                  </a:schemeClr>
                </a:solidFill>
              </a:rPr>
              <a:t>年</a:t>
            </a:r>
            <a:r>
              <a:rPr lang="en-US" altLang="ja-JP" sz="1400" dirty="0">
                <a:solidFill>
                  <a:schemeClr val="bg1">
                    <a:lumMod val="65000"/>
                  </a:schemeClr>
                </a:solidFill>
              </a:rPr>
              <a:t>9</a:t>
            </a:r>
            <a:r>
              <a:rPr lang="ja-JP" altLang="en-US" sz="1400" dirty="0">
                <a:solidFill>
                  <a:schemeClr val="bg1">
                    <a:lumMod val="65000"/>
                  </a:schemeClr>
                </a:solidFill>
              </a:rPr>
              <a:t>月版</a:t>
            </a:r>
          </a:p>
        </p:txBody>
      </p:sp>
    </p:spTree>
    <p:extLst>
      <p:ext uri="{BB962C8B-B14F-4D97-AF65-F5344CB8AC3E}">
        <p14:creationId xmlns:p14="http://schemas.microsoft.com/office/powerpoint/2010/main" val="3441648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677514-C9CA-8D65-AE51-D2058538ED4A}"/>
              </a:ext>
            </a:extLst>
          </p:cNvPr>
          <p:cNvSpPr>
            <a:spLocks noGrp="1"/>
          </p:cNvSpPr>
          <p:nvPr>
            <p:ph type="title"/>
          </p:nvPr>
        </p:nvSpPr>
        <p:spPr/>
        <p:txBody>
          <a:bodyPr/>
          <a:lstStyle/>
          <a:p>
            <a:r>
              <a:rPr kumimoji="1" lang="ja-JP" altLang="en-US" dirty="0"/>
              <a:t>演習資料</a:t>
            </a:r>
          </a:p>
        </p:txBody>
      </p:sp>
      <p:sp>
        <p:nvSpPr>
          <p:cNvPr id="3" name="テキスト プレースホルダー 2">
            <a:extLst>
              <a:ext uri="{FF2B5EF4-FFF2-40B4-BE49-F238E27FC236}">
                <a16:creationId xmlns:a16="http://schemas.microsoft.com/office/drawing/2014/main" id="{3F1357E2-9D6D-869B-C4D0-757B15E5A349}"/>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3210918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E7EC3E-0EA2-87B4-3685-FC920251475A}"/>
              </a:ext>
            </a:extLst>
          </p:cNvPr>
          <p:cNvSpPr>
            <a:spLocks noGrp="1"/>
          </p:cNvSpPr>
          <p:nvPr>
            <p:ph type="title"/>
          </p:nvPr>
        </p:nvSpPr>
        <p:spPr/>
        <p:txBody>
          <a:bodyPr/>
          <a:lstStyle/>
          <a:p>
            <a:r>
              <a:rPr kumimoji="1" lang="ja-JP" altLang="en-US" dirty="0"/>
              <a:t>演習資料</a:t>
            </a:r>
            <a:r>
              <a:rPr kumimoji="1" lang="en-US" altLang="ja-JP" dirty="0"/>
              <a:t>URL</a:t>
            </a:r>
            <a:endParaRPr kumimoji="1" lang="ja-JP" altLang="en-US" dirty="0"/>
          </a:p>
        </p:txBody>
      </p:sp>
      <p:sp>
        <p:nvSpPr>
          <p:cNvPr id="3" name="コンテンツ プレースホルダー 2">
            <a:extLst>
              <a:ext uri="{FF2B5EF4-FFF2-40B4-BE49-F238E27FC236}">
                <a16:creationId xmlns:a16="http://schemas.microsoft.com/office/drawing/2014/main" id="{EA9845EF-6881-0DF0-2BE4-32DE65E83718}"/>
              </a:ext>
            </a:extLst>
          </p:cNvPr>
          <p:cNvSpPr>
            <a:spLocks noGrp="1"/>
          </p:cNvSpPr>
          <p:nvPr>
            <p:ph idx="1"/>
          </p:nvPr>
        </p:nvSpPr>
        <p:spPr/>
        <p:txBody>
          <a:bodyPr/>
          <a:lstStyle/>
          <a:p>
            <a:endParaRPr kumimoji="1" lang="en-US" altLang="ja-JP" dirty="0"/>
          </a:p>
          <a:p>
            <a:pPr marL="0" indent="0">
              <a:buNone/>
            </a:pPr>
            <a:r>
              <a:rPr lang="en-US" altLang="ja-JP" dirty="0"/>
              <a:t>Python</a:t>
            </a:r>
            <a:r>
              <a:rPr lang="ja-JP" altLang="en-US" dirty="0"/>
              <a:t>プログラミング入門</a:t>
            </a:r>
            <a:endParaRPr lang="en-US" altLang="ja-JP" dirty="0"/>
          </a:p>
          <a:p>
            <a:pPr marL="0" indent="0">
              <a:buNone/>
            </a:pPr>
            <a:r>
              <a:rPr kumimoji="1" lang="en-US" altLang="ja-JP" dirty="0"/>
              <a:t>https://homata.github.io/musashiuniv/</a:t>
            </a:r>
            <a:endParaRPr kumimoji="1" lang="ja-JP" altLang="en-US" dirty="0"/>
          </a:p>
        </p:txBody>
      </p:sp>
    </p:spTree>
    <p:extLst>
      <p:ext uri="{BB962C8B-B14F-4D97-AF65-F5344CB8AC3E}">
        <p14:creationId xmlns:p14="http://schemas.microsoft.com/office/powerpoint/2010/main" val="1743204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74BD55-1D11-6217-80E4-176262EC7E94}"/>
              </a:ext>
            </a:extLst>
          </p:cNvPr>
          <p:cNvSpPr>
            <a:spLocks noGrp="1"/>
          </p:cNvSpPr>
          <p:nvPr>
            <p:ph type="title"/>
          </p:nvPr>
        </p:nvSpPr>
        <p:spPr/>
        <p:txBody>
          <a:bodyPr/>
          <a:lstStyle/>
          <a:p>
            <a:r>
              <a:rPr kumimoji="1" lang="ja-JP" altLang="en-US"/>
              <a:t>さあ、はじめましょう</a:t>
            </a:r>
            <a:endParaRPr kumimoji="1" lang="ja-JP" altLang="en-US" dirty="0"/>
          </a:p>
        </p:txBody>
      </p:sp>
      <p:sp>
        <p:nvSpPr>
          <p:cNvPr id="4" name="テキスト プレースホルダー 3">
            <a:extLst>
              <a:ext uri="{FF2B5EF4-FFF2-40B4-BE49-F238E27FC236}">
                <a16:creationId xmlns:a16="http://schemas.microsoft.com/office/drawing/2014/main" id="{413C0589-4396-B284-251F-52A4328E7164}"/>
              </a:ext>
            </a:extLst>
          </p:cNvPr>
          <p:cNvSpPr>
            <a:spLocks noGrp="1"/>
          </p:cNvSpPr>
          <p:nvPr>
            <p:ph type="body" idx="1"/>
          </p:nvPr>
        </p:nvSpPr>
        <p:spPr/>
        <p:txBody>
          <a:bodyPr/>
          <a:lstStyle/>
          <a:p>
            <a:r>
              <a:rPr lang="ja-JP" altLang="en-US" b="1" dirty="0">
                <a:solidFill>
                  <a:schemeClr val="tx1"/>
                </a:solidFill>
              </a:rPr>
              <a:t>よろしくお願いします</a:t>
            </a:r>
          </a:p>
        </p:txBody>
      </p:sp>
    </p:spTree>
    <p:extLst>
      <p:ext uri="{BB962C8B-B14F-4D97-AF65-F5344CB8AC3E}">
        <p14:creationId xmlns:p14="http://schemas.microsoft.com/office/powerpoint/2010/main" val="276099224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316</TotalTime>
  <Words>1991</Words>
  <Application>Microsoft Office PowerPoint</Application>
  <PresentationFormat>ワイド画面</PresentationFormat>
  <Paragraphs>224</Paragraphs>
  <Slides>26</Slides>
  <Notes>2</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26</vt:i4>
      </vt:variant>
    </vt:vector>
  </HeadingPairs>
  <TitlesOfParts>
    <vt:vector size="35" baseType="lpstr">
      <vt:lpstr>Meiryo UI</vt:lpstr>
      <vt:lpstr>メイリオ</vt:lpstr>
      <vt:lpstr>メイリオ</vt:lpstr>
      <vt:lpstr>游ゴシック</vt:lpstr>
      <vt:lpstr>游ゴシック Light</vt:lpstr>
      <vt:lpstr>Arial</vt:lpstr>
      <vt:lpstr>Calibri</vt:lpstr>
      <vt:lpstr>Wingdings</vt:lpstr>
      <vt:lpstr>Office テーマ</vt:lpstr>
      <vt:lpstr>プログラミング基礎A/ コンピューティング応用E M1830</vt:lpstr>
      <vt:lpstr>自己紹介</vt:lpstr>
      <vt:lpstr>授業について</vt:lpstr>
      <vt:lpstr>授業時間</vt:lpstr>
      <vt:lpstr>2026年度  集中授業 実施計画書</vt:lpstr>
      <vt:lpstr>授業の概要</vt:lpstr>
      <vt:lpstr>授業の目的・目標</vt:lpstr>
      <vt:lpstr>スケジュール </vt:lpstr>
      <vt:lpstr>資料配布について</vt:lpstr>
      <vt:lpstr>授業の進め方</vt:lpstr>
      <vt:lpstr>授業の進め方の補足</vt:lpstr>
      <vt:lpstr>授業で用いるツール</vt:lpstr>
      <vt:lpstr>評価方法</vt:lpstr>
      <vt:lpstr>講師への質問・連絡</vt:lpstr>
      <vt:lpstr>Pythonサイト</vt:lpstr>
      <vt:lpstr>その他のツール　(1/3)</vt:lpstr>
      <vt:lpstr>その他のツール (2/3)</vt:lpstr>
      <vt:lpstr>その他のツール (3/3)</vt:lpstr>
      <vt:lpstr>イントロ</vt:lpstr>
      <vt:lpstr>いまはもう，こんな時代： 　AIで思い通りに計算機を操れる</vt:lpstr>
      <vt:lpstr>いまはもう，こんな時代： 　AIで思い通りに計算機を操れる</vt:lpstr>
      <vt:lpstr>こんな時代だからこそ， 自分の身は自分で守らないと！</vt:lpstr>
      <vt:lpstr>なんだかわからないが「できちゃう」</vt:lpstr>
      <vt:lpstr>演習資料</vt:lpstr>
      <vt:lpstr>演習資料URL</vt:lpstr>
      <vt:lpstr>さあ、はじめましょう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Hiroshi Omata</dc:creator>
  <cp:lastModifiedBy>Hiroshi Omata</cp:lastModifiedBy>
  <cp:revision>64</cp:revision>
  <dcterms:created xsi:type="dcterms:W3CDTF">2025-07-17T08:49:15Z</dcterms:created>
  <dcterms:modified xsi:type="dcterms:W3CDTF">2026-07-18T15:47:59Z</dcterms:modified>
</cp:coreProperties>
</file>